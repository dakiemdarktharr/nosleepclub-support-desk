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fbfbb367b94f7b" /><Relationship Type="http://schemas.openxmlformats.org/officeDocument/2006/relationships/extended-properties" Target="/docProps/app.xml" Id="R60c6348b13e345d7" /><Relationship Type="http://schemas.openxmlformats.org/officeDocument/2006/relationships/officeDocument" Target="/ppt/presentation.xml" Id="Rd795699b055349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130ebd2a5e46b7"/>
  </p:sldMasterIdLst>
  <p:notesMasterIdLst>
    <p:notesMasterId xmlns:r="http://schemas.openxmlformats.org/officeDocument/2006/relationships" r:id="Rf9fc3f4ea67f4e9c"/>
  </p:notesMasterIdLst>
  <p:sldIdLst>
    <p:sldId xmlns:r="http://schemas.openxmlformats.org/officeDocument/2006/relationships" id="256" r:id="R90bedb0602df4222"/>
    <p:sldId xmlns:r="http://schemas.openxmlformats.org/officeDocument/2006/relationships" id="257" r:id="Re4a5dc9c32754a27"/>
    <p:sldId xmlns:r="http://schemas.openxmlformats.org/officeDocument/2006/relationships" id="258" r:id="R42c900c03b954d24"/>
    <p:sldId xmlns:r="http://schemas.openxmlformats.org/officeDocument/2006/relationships" id="259" r:id="Rb4e423b43e2b4e21"/>
    <p:sldId xmlns:r="http://schemas.openxmlformats.org/officeDocument/2006/relationships" id="260" r:id="Rdbef2b79c6464e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b8d33bfd914e78" /><Relationship Type="http://schemas.openxmlformats.org/officeDocument/2006/relationships/slideMaster" Target="/ppt/slideMasters/slideMaster1.xml" Id="R07130ebd2a5e46b7" /><Relationship Type="http://schemas.openxmlformats.org/officeDocument/2006/relationships/notesMaster" Target="/ppt/notesMasters/notesMaster1.xml" Id="Rf9fc3f4ea67f4e9c" /><Relationship Type="http://schemas.openxmlformats.org/officeDocument/2006/relationships/presProps" Target="/ppt/presProps.xml" Id="R77119f37bceb4787" /><Relationship Type="http://schemas.openxmlformats.org/officeDocument/2006/relationships/tableStyles" Target="/ppt/tableStyles.xml" Id="R139161e4fc984155" /><Relationship Type="http://schemas.openxmlformats.org/officeDocument/2006/relationships/slide" Target="/ppt/slides/slide1.xml" Id="R90bedb0602df4222" /><Relationship Type="http://schemas.openxmlformats.org/officeDocument/2006/relationships/slide" Target="/ppt/slides/slide2.xml" Id="Re4a5dc9c32754a27" /><Relationship Type="http://schemas.openxmlformats.org/officeDocument/2006/relationships/slide" Target="/ppt/slides/slide3.xml" Id="R42c900c03b954d24" /><Relationship Type="http://schemas.openxmlformats.org/officeDocument/2006/relationships/slide" Target="/ppt/slides/slide4.xml" Id="Rb4e423b43e2b4e21" /><Relationship Type="http://schemas.openxmlformats.org/officeDocument/2006/relationships/slide" Target="/ppt/slides/slide5.xml" Id="Rdbef2b79c6464e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bb0cf1df0743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6c5fc8b7b440b0" /><Relationship Type="http://schemas.openxmlformats.org/officeDocument/2006/relationships/notesMaster" Target="/ppt/notesMasters/notesMaster1.xml" Id="Ra61c86f784a948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95c21af2174c8f" /><Relationship Type="http://schemas.openxmlformats.org/officeDocument/2006/relationships/notesMaster" Target="/ppt/notesMasters/notesMaster1.xml" Id="R41a7f10e91774b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8ee3f53eb84a99" /><Relationship Type="http://schemas.openxmlformats.org/officeDocument/2006/relationships/notesMaster" Target="/ppt/notesMasters/notesMaster1.xml" Id="Re8c84d33d60f4f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20cc72291c4a24" /><Relationship Type="http://schemas.openxmlformats.org/officeDocument/2006/relationships/notesMaster" Target="/ppt/notesMasters/notesMaster1.xml" Id="Rd13cd5913a1c40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0eefedc5ee42e4" /><Relationship Type="http://schemas.openxmlformats.org/officeDocument/2006/relationships/notesMaster" Target="/ppt/notesMasters/notesMaster1.xml" Id="R3b8c2b8b83d245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Challenge_Brief_OrganizationAI_VN.docx.md, mục Đề A và cấu trúc Slide 1; README.md; docs/USER-TEST-FINDINGS.md. Ba vấn đề là phản ánh có trong tài liệu người dùng cung cấp, không đại diện cho tỷ lệ lỗi hay khối lượng công việc của Helpdesk.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README.md, các phần luồng người gửi, xử lý viên, Verify/audit; docs/ARCHITECTURE.md; RUNBOOK.md; src/domain/policy.ts; src/services/review.ts; src/components/support-workspace.tsx. Các quyền Stop/Override là workflow nội bộ ứng dụng, không thực thi hay hoàn tác tài nguyên ngoài hệ thống. Policy v5.15 yêu cầu proof entitlement/approval đáng tin cậy cho thao tác có quyền; resolver chưa nối hệ thống VNG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chính: docs/USER-TEST-FINDINGS.md; README.md; docs/MISMATCH-REVIEW-2026-10-14.md. Các mã UT-01/02/03 giữ nguyên danh tính trong hồ sơ nguồn; người tham gia được ghi vai trò Tester, chưa xác minh họ là nhân sự Helpdesk. Hồ sơ gốc ghi 18 targeted unit tests và 1 Playwright E2E đạt; README hiện ghi 900 unit/integration tests và 35 regression synthetic đạt trên bộ mã v5.15. Không có participant retest, thời gian/task-success trước-sau hoặc hiệu quả vận hành. Brief: Slide 3 yêu cầu đối chiếu trước/sau và phương pháp đo.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README.md; RUNBOOK.md; docs/ARCHITECTURE.md; docs/REPO-AUDIT-2026-10-14.md; src/domain/policy-source.ts; src/domain/knowledge-search.ts; src/app/api/support/health/route.ts; docs/USER-TEST-FINDINGS.md. Data distinction follows brief section 1: synthetic/actual data must be disclosed on Slide 4. The measured runtime code was d585d02, policy v5.15; later main commits reorganized docs without changing runtime. Demo policies and cases are synthetic/proposed, not official VNG policy. Verify live sourceRevision before presenting this URL as that build.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docs/USER-TEST-FINDINGS.md; README.md; RUNBOOK.md, kiểm tra sourceRevision và persistence; docs/PRIVACY-INVENTORY.md; docs/MISMATCH-REVIEW-2026-10-14.md; docs/INDEPENDENT-EVALUATION-PROTOCOL.md. 39/128 mismatch là development fixture mock/memory đã được dùng trong sửa code, nhãn chưa thẩm định độc lập; không gọi đây là accuracy held-out. Chưa có Mongo restart, OpenAI live quality hoặc tác động người dùng được xác minh.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af9a1c98a4f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58251b51b645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15e36a062746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900e92158543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a325f9e15143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35551565742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316DD4-A41F-4154-9A6C-31AD9B2AD2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342DFC7-A4DB-4D8B-8B3F-05DF9E3F620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6B223AF-3A2D-44CF-82D6-5EB5EE700E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36B2E3-D2B2-4135-B33F-24435759BF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F01C73A-DC00-415F-A104-2D1BDBF566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225A830-45E0-48BD-B115-3BFDD90860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B8EDC1-2637-4BA2-AC5E-F4021166AE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45D98B6-3659-4CBA-B442-36935A7636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0816BA-909C-4C6C-A7FD-06A3F8378D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C04128-ACC9-461B-A3EE-49248BCCF9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7031ebe690406d" /><Relationship Type="http://schemas.openxmlformats.org/officeDocument/2006/relationships/slideLayout" Target="/ppt/slideLayouts/slideLayout1.xml" Id="R7496ceee386240de" /><Relationship Type="http://schemas.openxmlformats.org/officeDocument/2006/relationships/slideLayout" Target="/ppt/slideLayouts/slideLayout2.xml" Id="Rf32cb3877dff4b57" /><Relationship Type="http://schemas.openxmlformats.org/officeDocument/2006/relationships/slideLayout" Target="/ppt/slideLayouts/slideLayout3.xml" Id="R940ecec1b36243dd" /><Relationship Type="http://schemas.openxmlformats.org/officeDocument/2006/relationships/slideLayout" Target="/ppt/slideLayouts/slideLayout4.xml" Id="R7a4028749b6d4e1d" /><Relationship Type="http://schemas.openxmlformats.org/officeDocument/2006/relationships/slideLayout" Target="/ppt/slideLayouts/slideLayout5.xml" Id="R7378b90eda0f40d2" /><Relationship Type="http://schemas.openxmlformats.org/officeDocument/2006/relationships/slideLayout" Target="/ppt/slideLayouts/slideLayout6.xml" Id="Re44ce0f104bd4b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96ceee386240de"/>
    <p:sldLayoutId xmlns:r="http://schemas.openxmlformats.org/officeDocument/2006/relationships" id="2147483650" r:id="Rf32cb3877dff4b57"/>
    <p:sldLayoutId xmlns:r="http://schemas.openxmlformats.org/officeDocument/2006/relationships" id="2147483651" r:id="R940ecec1b36243dd"/>
    <p:sldLayoutId xmlns:r="http://schemas.openxmlformats.org/officeDocument/2006/relationships" id="2147483652" r:id="R7a4028749b6d4e1d"/>
    <p:sldLayoutId xmlns:r="http://schemas.openxmlformats.org/officeDocument/2006/relationships" id="2147483653" r:id="R7378b90eda0f40d2"/>
    <p:sldLayoutId xmlns:r="http://schemas.openxmlformats.org/officeDocument/2006/relationships" id="2147483654" r:id="Re44ce0f104bd4b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9f507d4c594ae8" /><Relationship Type="http://schemas.openxmlformats.org/officeDocument/2006/relationships/notesSlide" Target="/ppt/notesSlides/notesSlide1.xml" Id="R172a3a6306d044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13210918ed4dcf" /><Relationship Type="http://schemas.openxmlformats.org/officeDocument/2006/relationships/notesSlide" Target="/ppt/notesSlides/notesSlide2.xml" Id="Rf50c2af1b52f41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6f6fdf092f4e43" /><Relationship Type="http://schemas.openxmlformats.org/officeDocument/2006/relationships/notesSlide" Target="/ppt/notesSlides/notesSlide3.xml" Id="Rdc00b908566a41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5483346c954534" /><Relationship Type="http://schemas.openxmlformats.org/officeDocument/2006/relationships/notesSlide" Target="/ppt/notesSlides/notesSlide4.xml" Id="R16d5f026cc2141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29ef953f7a4ea4" /><Relationship Type="http://schemas.openxmlformats.org/officeDocument/2006/relationships/notesSlide" Target="/ppt/notesSlides/notesSlide5.xml" Id="Rdf9cc3a25a784e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accent-1">
            <a:extLst xmlns:a="http://schemas.openxmlformats.org/drawingml/2006/main">
              <a:ext uri="{FF2B5EF4-FFF2-40B4-BE49-F238E27FC236}">
                <a16:creationId xmlns:a16="http://schemas.microsoft.com/office/drawing/2014/main" id="{91C10F4A-0D82-4474-B122-12F1E1BD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">
            <a:extLst xmlns:a="http://schemas.openxmlformats.org/drawingml/2006/main">
              <a:ext uri="{FF2B5EF4-FFF2-40B4-BE49-F238E27FC236}">
                <a16:creationId xmlns:a16="http://schemas.microsoft.com/office/drawing/2014/main" id="{4F76934F-A504-4DEA-B000-587F49B1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MLAI HACKATHON 2026  ·  ORGANIZATIONAI  ·  ĐỀ A</a:t>
            </a:r>
          </a:p>
        </p:txBody>
      </p:sp>
      <p:sp>
        <p:nvSpPr>
          <p:cNvPr id="3" name="title-1">
            <a:extLst xmlns:a="http://schemas.openxmlformats.org/drawingml/2006/main">
              <a:ext uri="{FF2B5EF4-FFF2-40B4-BE49-F238E27FC236}">
                <a16:creationId xmlns:a16="http://schemas.microsoft.com/office/drawing/2014/main" id="{4DA321D3-44B6-44B7-A3F5-900DCF1E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Bài toán hiện trạng: xử lý thường quy, dừng đúng lúc</a:t>
            </a:r>
          </a:p>
        </p:txBody>
      </p:sp>
      <p:sp>
        <p:nvSpPr>
          <p:cNvPr id="4" name="subtitle-1">
            <a:extLst xmlns:a="http://schemas.openxmlformats.org/drawingml/2006/main">
              <a:ext uri="{FF2B5EF4-FFF2-40B4-BE49-F238E27FC236}">
                <a16:creationId xmlns:a16="http://schemas.microsoft.com/office/drawing/2014/main" id="{911337E6-3FA8-4551-A03A-CF9C8DFF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646C"/>
                </a:solidFill>
                <a:latin typeface="Arial"/>
                <a:ea typeface="Arial"/>
                <a:cs typeface="Arial"/>
              </a:rPr>
              <a:t>IT Helpdesk cần tự hỗ trợ an toàn mà không đóng nhầm lỗi còn tái diễn hoặc chuyển nhầm tuyến.</a:t>
            </a:r>
          </a:p>
        </p:txBody>
      </p:sp>
      <p:sp>
        <p:nvSpPr>
          <p:cNvPr id="5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A6B97C5-5C04-4F15-8AC5-8A3FF10B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1">
            <a:extLst xmlns:a="http://schemas.openxmlformats.org/drawingml/2006/main">
              <a:ext uri="{FF2B5EF4-FFF2-40B4-BE49-F238E27FC236}">
                <a16:creationId xmlns:a16="http://schemas.microsoft.com/office/drawing/2014/main" id="{8AE52B04-C251-40E1-AC40-364799F2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0646C"/>
                </a:solidFill>
                <a:latin typeface="Arial"/>
                <a:ea typeface="Arial"/>
                <a:cs typeface="Arial"/>
              </a:rPr>
              <a:t>VNG Support  ·  Bản thảo 14.10.2026  ·  code v5.15 @ d585d02</a:t>
            </a:r>
          </a:p>
        </p:txBody>
      </p:sp>
      <p:sp>
        <p:nvSpPr>
          <p:cNvPr id="7" name="page-1">
            <a:extLst xmlns:a="http://schemas.openxmlformats.org/drawingml/2006/main">
              <a:ext uri="{FF2B5EF4-FFF2-40B4-BE49-F238E27FC236}">
                <a16:creationId xmlns:a16="http://schemas.microsoft.com/office/drawing/2014/main" id="{2CB2E6BC-DB32-4513-86B2-952F5640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01 / 05</a:t>
            </a:r>
          </a:p>
        </p:txBody>
      </p:sp>
      <p:sp>
        <p:nvSpPr>
          <p:cNvPr id="8" name="problem-flow-0">
            <a:extLst xmlns:a="http://schemas.openxmlformats.org/drawingml/2006/main">
              <a:ext uri="{FF2B5EF4-FFF2-40B4-BE49-F238E27FC236}">
                <a16:creationId xmlns:a16="http://schemas.microsoft.com/office/drawing/2014/main" id="{C08AC9D7-C25E-4868-8D4B-19E1EA28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207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9" name="problem-flow-accent-0">
            <a:extLst xmlns:a="http://schemas.openxmlformats.org/drawingml/2006/main">
              <a:ext uri="{FF2B5EF4-FFF2-40B4-BE49-F238E27FC236}">
                <a16:creationId xmlns:a16="http://schemas.microsoft.com/office/drawing/2014/main" id="{7472A64B-8581-4BCA-B14C-D80BD130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blem-flow-label-0">
            <a:extLst xmlns:a="http://schemas.openxmlformats.org/drawingml/2006/main">
              <a:ext uri="{FF2B5EF4-FFF2-40B4-BE49-F238E27FC236}">
                <a16:creationId xmlns:a16="http://schemas.microsoft.com/office/drawing/2014/main" id="{A5500786-3503-4052-92B9-87B4BDB3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01  TIẾP NHẬN</a:t>
            </a:r>
          </a:p>
        </p:txBody>
      </p:sp>
      <p:sp>
        <p:nvSpPr>
          <p:cNvPr id="11" name="problem-flow-body-0">
            <a:extLst xmlns:a="http://schemas.openxmlformats.org/drawingml/2006/main">
              <a:ext uri="{FF2B5EF4-FFF2-40B4-BE49-F238E27FC236}">
                <a16:creationId xmlns:a16="http://schemas.microsoft.com/office/drawing/2014/main" id="{C8B8EB1C-99B0-4E49-858C-E993851B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Mô tả vấn đề</a:t>
            </a:r>
          </a:p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hoặc chọn danh mục</a:t>
            </a:r>
          </a:p>
        </p:txBody>
      </p:sp>
      <p:sp>
        <p:nvSpPr>
          <p:cNvPr id="12" name="problem-flow-arrow-0">
            <a:extLst xmlns:a="http://schemas.openxmlformats.org/drawingml/2006/main">
              <a:ext uri="{FF2B5EF4-FFF2-40B4-BE49-F238E27FC236}">
                <a16:creationId xmlns:a16="http://schemas.microsoft.com/office/drawing/2014/main" id="{61B32924-0593-401E-B057-F1EEC859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241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>
            <a:defPPr algn="ctr">
              <a:defRPr sz="210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roblem-flow-1">
            <a:extLst xmlns:a="http://schemas.openxmlformats.org/drawingml/2006/main">
              <a:ext uri="{FF2B5EF4-FFF2-40B4-BE49-F238E27FC236}">
                <a16:creationId xmlns:a16="http://schemas.microsoft.com/office/drawing/2014/main" id="{E935EE51-B2D2-405E-B484-718AFDF2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71675"/>
            <a:ext cx="207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14" name="problem-flow-accent-1">
            <a:extLst xmlns:a="http://schemas.openxmlformats.org/drawingml/2006/main">
              <a:ext uri="{FF2B5EF4-FFF2-40B4-BE49-F238E27FC236}">
                <a16:creationId xmlns:a16="http://schemas.microsoft.com/office/drawing/2014/main" id="{57064CD4-2788-4933-89F3-062B07D9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71675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blem-flow-label-1">
            <a:extLst xmlns:a="http://schemas.openxmlformats.org/drawingml/2006/main">
              <a:ext uri="{FF2B5EF4-FFF2-40B4-BE49-F238E27FC236}">
                <a16:creationId xmlns:a16="http://schemas.microsoft.com/office/drawing/2014/main" id="{B8009DA5-59F4-47BD-A8E4-255C37A3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4312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02  PHÂN LOẠI</a:t>
            </a:r>
          </a:p>
        </p:txBody>
      </p:sp>
      <p:sp>
        <p:nvSpPr>
          <p:cNvPr id="16" name="problem-flow-body-1">
            <a:extLst xmlns:a="http://schemas.openxmlformats.org/drawingml/2006/main">
              <a:ext uri="{FF2B5EF4-FFF2-40B4-BE49-F238E27FC236}">
                <a16:creationId xmlns:a16="http://schemas.microsoft.com/office/drawing/2014/main" id="{C70D9510-C770-417B-8D41-2FBCEE55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28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Hiểu ý định, dữ kiện</a:t>
            </a:r>
          </a:p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và trạng thái yêu cầu</a:t>
            </a:r>
          </a:p>
        </p:txBody>
      </p:sp>
      <p:sp>
        <p:nvSpPr>
          <p:cNvPr id="17" name="problem-flow-arrow-1">
            <a:extLst xmlns:a="http://schemas.openxmlformats.org/drawingml/2006/main">
              <a:ext uri="{FF2B5EF4-FFF2-40B4-BE49-F238E27FC236}">
                <a16:creationId xmlns:a16="http://schemas.microsoft.com/office/drawing/2014/main" id="{E4DD6654-F7FD-41AF-B4AE-FB05EF21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241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>
            <a:defPPr algn="ctr">
              <a:defRPr sz="210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problem-flow-2">
            <a:extLst xmlns:a="http://schemas.openxmlformats.org/drawingml/2006/main">
              <a:ext uri="{FF2B5EF4-FFF2-40B4-BE49-F238E27FC236}">
                <a16:creationId xmlns:a16="http://schemas.microsoft.com/office/drawing/2014/main" id="{5408EEA6-FEBF-47A7-A392-57BEFBFB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71675"/>
            <a:ext cx="207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19" name="problem-flow-accent-2">
            <a:extLst xmlns:a="http://schemas.openxmlformats.org/drawingml/2006/main">
              <a:ext uri="{FF2B5EF4-FFF2-40B4-BE49-F238E27FC236}">
                <a16:creationId xmlns:a16="http://schemas.microsoft.com/office/drawing/2014/main" id="{C75222A8-8974-49FE-9007-A6D9E74F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71675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oblem-flow-label-2">
            <a:extLst xmlns:a="http://schemas.openxmlformats.org/drawingml/2006/main">
              <a:ext uri="{FF2B5EF4-FFF2-40B4-BE49-F238E27FC236}">
                <a16:creationId xmlns:a16="http://schemas.microsoft.com/office/drawing/2014/main" id="{26723D27-B0B1-4407-A11A-9A498C2B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03  ÁP QUY TẮC</a:t>
            </a:r>
          </a:p>
        </p:txBody>
      </p:sp>
      <p:sp>
        <p:nvSpPr>
          <p:cNvPr id="21" name="problem-flow-body-2">
            <a:extLst xmlns:a="http://schemas.openxmlformats.org/drawingml/2006/main">
              <a:ext uri="{FF2B5EF4-FFF2-40B4-BE49-F238E27FC236}">
                <a16:creationId xmlns:a16="http://schemas.microsoft.com/office/drawing/2014/main" id="{8FDC45DC-44E0-494D-8034-D87833C2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Hướng dẫn, hỏi thêm</a:t>
            </a:r>
          </a:p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hoặc chuyển người</a:t>
            </a:r>
          </a:p>
        </p:txBody>
      </p:sp>
      <p:sp>
        <p:nvSpPr>
          <p:cNvPr id="22" name="problem-flow-arrow-2">
            <a:extLst xmlns:a="http://schemas.openxmlformats.org/drawingml/2006/main">
              <a:ext uri="{FF2B5EF4-FFF2-40B4-BE49-F238E27FC236}">
                <a16:creationId xmlns:a16="http://schemas.microsoft.com/office/drawing/2014/main" id="{5172308D-9ACD-4D0B-8AE4-509F32AC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3241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>
            <a:defPPr algn="ctr">
              <a:defRPr sz="210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problem-flow-3">
            <a:extLst xmlns:a="http://schemas.openxmlformats.org/drawingml/2006/main">
              <a:ext uri="{FF2B5EF4-FFF2-40B4-BE49-F238E27FC236}">
                <a16:creationId xmlns:a16="http://schemas.microsoft.com/office/drawing/2014/main" id="{588D992B-95FE-437B-923B-0BCC2BCF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971675"/>
            <a:ext cx="25622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24" name="problem-flow-accent-3">
            <a:extLst xmlns:a="http://schemas.openxmlformats.org/drawingml/2006/main">
              <a:ext uri="{FF2B5EF4-FFF2-40B4-BE49-F238E27FC236}">
                <a16:creationId xmlns:a16="http://schemas.microsoft.com/office/drawing/2014/main" id="{EAD47BD3-D6D5-4B65-BB95-CB062674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971675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oblem-flow-label-3">
            <a:extLst xmlns:a="http://schemas.openxmlformats.org/drawingml/2006/main">
              <a:ext uri="{FF2B5EF4-FFF2-40B4-BE49-F238E27FC236}">
                <a16:creationId xmlns:a16="http://schemas.microsoft.com/office/drawing/2014/main" id="{CDF706AE-5B71-475B-8FDA-F329A412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43125"/>
            <a:ext cx="2257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04  THEO DÕI</a:t>
            </a:r>
          </a:p>
        </p:txBody>
      </p:sp>
      <p:sp>
        <p:nvSpPr>
          <p:cNvPr id="26" name="problem-flow-body-3">
            <a:extLst xmlns:a="http://schemas.openxmlformats.org/drawingml/2006/main">
              <a:ext uri="{FF2B5EF4-FFF2-40B4-BE49-F238E27FC236}">
                <a16:creationId xmlns:a16="http://schemas.microsoft.com/office/drawing/2014/main" id="{3E38FA82-4EF3-4ACC-A5D3-029DED52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2887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Người gửi và IT cần</a:t>
            </a:r>
          </a:p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hìn cùng một trạng thái</a:t>
            </a:r>
          </a:p>
        </p:txBody>
      </p:sp>
      <p:sp>
        <p:nvSpPr>
          <p:cNvPr id="27" name="problem-divider">
            <a:extLst xmlns:a="http://schemas.openxmlformats.org/drawingml/2006/main">
              <a:ext uri="{FF2B5EF4-FFF2-40B4-BE49-F238E27FC236}">
                <a16:creationId xmlns:a16="http://schemas.microsoft.com/office/drawing/2014/main" id="{4140326A-B8A8-4142-8101-CD7C61F6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roblem-gap-label">
            <a:extLst xmlns:a="http://schemas.openxmlformats.org/drawingml/2006/main">
              <a:ext uri="{FF2B5EF4-FFF2-40B4-BE49-F238E27FC236}">
                <a16:creationId xmlns:a16="http://schemas.microsoft.com/office/drawing/2014/main" id="{3BC362EF-4C95-4476-873D-F4D31EB8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61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KHOẢNG TRỐNG CẦN KHẮC PHỤC</a:t>
            </a:r>
          </a:p>
        </p:txBody>
      </p:sp>
      <p:sp>
        <p:nvSpPr>
          <p:cNvPr id="29" name="problem-gap-headline">
            <a:extLst xmlns:a="http://schemas.openxmlformats.org/drawingml/2006/main">
              <a:ext uri="{FF2B5EF4-FFF2-40B4-BE49-F238E27FC236}">
                <a16:creationId xmlns:a16="http://schemas.microsoft.com/office/drawing/2014/main" id="{111AC5FC-7F7C-44CE-A3A6-92850229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686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85"/>
          </a:bodyPr>
          <a:lstStyle xmlns:a="http://schemas.openxmlformats.org/drawingml/2006/main">
            <a:defPPr>
              <a:defRPr sz="22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Khi ý định đổi hoặc sự cố quay lại, hệ thống có thể giữ trạng thái cũ.</a:t>
            </a:r>
          </a:p>
        </p:txBody>
      </p:sp>
      <p:sp>
        <p:nvSpPr>
          <p:cNvPr id="30" name="problem-gap-body">
            <a:extLst xmlns:a="http://schemas.openxmlformats.org/drawingml/2006/main">
              <a:ext uri="{FF2B5EF4-FFF2-40B4-BE49-F238E27FC236}">
                <a16:creationId xmlns:a16="http://schemas.microsoft.com/office/drawing/2014/main" id="{DCFD0A0F-4875-49EC-84D1-1E2081E6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468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646C"/>
                </a:solidFill>
                <a:latin typeface="Arial"/>
                <a:ea typeface="Arial"/>
                <a:cs typeface="Arial"/>
              </a:rPr>
              <a:t>Trạng thái hội thoại, lựa chọn trên form và mã policy phải nhất quán trước khi kết luận hay bàn giao.</a:t>
            </a:r>
          </a:p>
        </p:txBody>
      </p:sp>
      <p:sp>
        <p:nvSpPr>
          <p:cNvPr id="31" name="gap-num-0">
            <a:extLst xmlns:a="http://schemas.openxmlformats.org/drawingml/2006/main">
              <a:ext uri="{FF2B5EF4-FFF2-40B4-BE49-F238E27FC236}">
                <a16:creationId xmlns:a16="http://schemas.microsoft.com/office/drawing/2014/main" id="{05967D69-39C4-4A7F-A2C3-D5C697B3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147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7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2" name="gap-text-0">
            <a:extLst xmlns:a="http://schemas.openxmlformats.org/drawingml/2006/main">
              <a:ext uri="{FF2B5EF4-FFF2-40B4-BE49-F238E27FC236}">
                <a16:creationId xmlns:a16="http://schemas.microsoft.com/office/drawing/2014/main" id="{1D0A42C7-DD08-4CD8-8A6D-55EB72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24275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124"/>
                </a:solidFill>
                <a:latin typeface="Arial"/>
                <a:ea typeface="Arial"/>
                <a:cs typeface="Arial"/>
              </a:rPr>
              <a:t>Sự cố mạng tái diễn nhưng câu “vào lại được” có thể bị hiểu là đã xong.</a:t>
            </a:r>
          </a:p>
        </p:txBody>
      </p:sp>
      <p:sp>
        <p:nvSpPr>
          <p:cNvPr id="33" name="gap-rule-0">
            <a:extLst xmlns:a="http://schemas.openxmlformats.org/drawingml/2006/main">
              <a:ext uri="{FF2B5EF4-FFF2-40B4-BE49-F238E27FC236}">
                <a16:creationId xmlns:a16="http://schemas.microsoft.com/office/drawing/2014/main" id="{B461A1FB-FD0B-46D4-8871-E09176CB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14825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ap-num-1">
            <a:extLst xmlns:a="http://schemas.openxmlformats.org/drawingml/2006/main">
              <a:ext uri="{FF2B5EF4-FFF2-40B4-BE49-F238E27FC236}">
                <a16:creationId xmlns:a16="http://schemas.microsoft.com/office/drawing/2014/main" id="{A7D82DE0-6A95-489A-A4D2-F51FB1D8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386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7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5" name="gap-text-1">
            <a:extLst xmlns:a="http://schemas.openxmlformats.org/drawingml/2006/main">
              <a:ext uri="{FF2B5EF4-FFF2-40B4-BE49-F238E27FC236}">
                <a16:creationId xmlns:a16="http://schemas.microsoft.com/office/drawing/2014/main" id="{8F5659EB-C4DB-4E4A-B7EF-E54ECAFE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48175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124"/>
                </a:solidFill>
                <a:latin typeface="Arial"/>
                <a:ea typeface="Arial"/>
                <a:cs typeface="Arial"/>
              </a:rPr>
              <a:t>Đổi nhóm hỗ trợ nhưng loại yêu cầu cũ có thể còn trong form.</a:t>
            </a:r>
          </a:p>
        </p:txBody>
      </p:sp>
      <p:sp>
        <p:nvSpPr>
          <p:cNvPr id="36" name="gap-rule-1">
            <a:extLst xmlns:a="http://schemas.openxmlformats.org/drawingml/2006/main">
              <a:ext uri="{FF2B5EF4-FFF2-40B4-BE49-F238E27FC236}">
                <a16:creationId xmlns:a16="http://schemas.microsoft.com/office/drawing/2014/main" id="{81D3F561-ED02-443E-BC52-5123903F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38725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gap-num-2">
            <a:extLst xmlns:a="http://schemas.openxmlformats.org/drawingml/2006/main">
              <a:ext uri="{FF2B5EF4-FFF2-40B4-BE49-F238E27FC236}">
                <a16:creationId xmlns:a16="http://schemas.microsoft.com/office/drawing/2014/main" id="{20BF12F3-39E0-41E9-A916-725002FC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1625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7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8" name="gap-text-2">
            <a:extLst xmlns:a="http://schemas.openxmlformats.org/drawingml/2006/main">
              <a:ext uri="{FF2B5EF4-FFF2-40B4-BE49-F238E27FC236}">
                <a16:creationId xmlns:a16="http://schemas.microsoft.com/office/drawing/2014/main" id="{64E020BD-FE9F-4F69-91CA-811734FA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72075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124"/>
                </a:solidFill>
                <a:latin typeface="Arial"/>
                <a:ea typeface="Arial"/>
                <a:cs typeface="Arial"/>
              </a:rPr>
              <a:t>Hai rule bảo mật cùng mã làm người đọc khó phân biệt audit.</a:t>
            </a:r>
          </a:p>
        </p:txBody>
      </p:sp>
      <p:sp>
        <p:nvSpPr>
          <p:cNvPr id="39" name="problem-source">
            <a:extLst xmlns:a="http://schemas.openxmlformats.org/drawingml/2006/main">
              <a:ext uri="{FF2B5EF4-FFF2-40B4-BE49-F238E27FC236}">
                <a16:creationId xmlns:a16="http://schemas.microsoft.com/office/drawing/2014/main" id="{B4983E4B-3C03-407C-AF55-41B2025B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905500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i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i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050" i="1">
                <a:solidFill>
                  <a:srgbClr val="60646C"/>
                </a:solidFill>
                <a:latin typeface="Arial"/>
                <a:ea typeface="Arial"/>
                <a:cs typeface="Arial"/>
              </a:rPr>
              <a:t>Cơ sở: 3 phản ánh tester ghi nhận ngày 13.10.2026; không phải mẫu đo workload.</a:t>
            </a:r>
          </a:p>
        </p:txBody>
      </p:sp>
    </p:spTree>
    <p:extLst>
      <p:ext uri="{BB962C8B-B14F-4D97-AF65-F5344CB8AC3E}">
        <p14:creationId xmlns:p14="http://schemas.microsoft.com/office/powerpoint/2010/main" val="18218097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accent-2">
            <a:extLst xmlns:a="http://schemas.openxmlformats.org/drawingml/2006/main">
              <a:ext uri="{FF2B5EF4-FFF2-40B4-BE49-F238E27FC236}">
                <a16:creationId xmlns:a16="http://schemas.microsoft.com/office/drawing/2014/main" id="{72E03423-C110-47C2-8F28-CC5B544C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7D9EF518-E1C0-45F1-82B7-552FB683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MLAI HACKATHON 2026  ·  ORGANIZATIONAI  ·  ĐỀ A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D79F1CA6-94A0-4E17-AFBD-AC1A6AA9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Luồng xử lý và điểm con người quyết định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19F66CFA-7E18-4F15-9B6B-829FAA49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646C"/>
                </a:solidFill>
                <a:latin typeface="Arial"/>
                <a:ea typeface="Arial"/>
                <a:cs typeface="Arial"/>
              </a:rPr>
              <a:t>Model trích xuất thông tin; policy xác định hành động; con người giữ quyền phê duyệt và can thiệp.</a:t>
            </a:r>
          </a:p>
        </p:txBody>
      </p:sp>
      <p:sp>
        <p:nvSpPr>
          <p:cNvPr id="5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D0E11A43-DE7B-459E-A767-A2827B5C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2">
            <a:extLst xmlns:a="http://schemas.openxmlformats.org/drawingml/2006/main">
              <a:ext uri="{FF2B5EF4-FFF2-40B4-BE49-F238E27FC236}">
                <a16:creationId xmlns:a16="http://schemas.microsoft.com/office/drawing/2014/main" id="{BC83BBED-90FC-4606-8562-989B2FA0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0646C"/>
                </a:solidFill>
                <a:latin typeface="Arial"/>
                <a:ea typeface="Arial"/>
                <a:cs typeface="Arial"/>
              </a:rPr>
              <a:t>VNG Support  ·  Bản thảo 14.10.2026  ·  code v5.15 @ d585d02</a:t>
            </a:r>
          </a:p>
        </p:txBody>
      </p:sp>
      <p:sp>
        <p:nvSpPr>
          <p:cNvPr id="7" name="page-2">
            <a:extLst xmlns:a="http://schemas.openxmlformats.org/drawingml/2006/main">
              <a:ext uri="{FF2B5EF4-FFF2-40B4-BE49-F238E27FC236}">
                <a16:creationId xmlns:a16="http://schemas.microsoft.com/office/drawing/2014/main" id="{18BD1165-C38A-48D3-B0E0-8B01D781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02 / 05</a:t>
            </a:r>
          </a:p>
        </p:txBody>
      </p:sp>
      <p:sp>
        <p:nvSpPr>
          <p:cNvPr id="8" name="step-box-0">
            <a:extLst xmlns:a="http://schemas.openxmlformats.org/drawingml/2006/main">
              <a:ext uri="{FF2B5EF4-FFF2-40B4-BE49-F238E27FC236}">
                <a16:creationId xmlns:a16="http://schemas.microsoft.com/office/drawing/2014/main" id="{72B52AF8-4C05-45EF-A6F2-3B212A87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7907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9" name="step-mark-0">
            <a:extLst xmlns:a="http://schemas.openxmlformats.org/drawingml/2006/main">
              <a:ext uri="{FF2B5EF4-FFF2-40B4-BE49-F238E27FC236}">
                <a16:creationId xmlns:a16="http://schemas.microsoft.com/office/drawing/2014/main" id="{68B0CBB2-F5D2-4A6F-98C2-7C036CEB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35F53A86-283D-40B9-97AD-0B1C1FA1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01  ĐẦU VÀO</a:t>
            </a:r>
          </a:p>
        </p:txBody>
      </p:sp>
      <p:sp>
        <p:nvSpPr>
          <p:cNvPr id="11" name="step-copy-0">
            <a:extLst xmlns:a="http://schemas.openxmlformats.org/drawingml/2006/main">
              <a:ext uri="{FF2B5EF4-FFF2-40B4-BE49-F238E27FC236}">
                <a16:creationId xmlns:a16="http://schemas.microsoft.com/office/drawing/2014/main" id="{09E6FF27-EE05-43D9-A76C-4A772D3B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1485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Mô tả tự do hoặc</a:t>
            </a:r>
          </a:p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danh mục hỗ trợ</a:t>
            </a:r>
          </a:p>
        </p:txBody>
      </p:sp>
      <p:sp>
        <p:nvSpPr>
          <p:cNvPr id="12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7651E94E-1182-46CD-ADD7-32CBC486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57475"/>
            <a:ext cx="409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65"/>
          </a:bodyPr>
          <a:lstStyle xmlns:a="http://schemas.openxmlformats.org/drawingml/2006/main">
            <a:defPPr algn="ctr">
              <a:defRPr sz="20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step-box-1">
            <a:extLst xmlns:a="http://schemas.openxmlformats.org/drawingml/2006/main">
              <a:ext uri="{FF2B5EF4-FFF2-40B4-BE49-F238E27FC236}">
                <a16:creationId xmlns:a16="http://schemas.microsoft.com/office/drawing/2014/main" id="{6686AF01-186D-4E76-ACDC-22462DA9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76450"/>
            <a:ext cx="17907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14" name="step-mark-1">
            <a:extLst xmlns:a="http://schemas.openxmlformats.org/drawingml/2006/main">
              <a:ext uri="{FF2B5EF4-FFF2-40B4-BE49-F238E27FC236}">
                <a16:creationId xmlns:a16="http://schemas.microsoft.com/office/drawing/2014/main" id="{A80CF8F9-92F9-4615-B823-99500666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76450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C3B262D5-E5FB-4EC4-841A-361AF034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7647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02  KIỂM TRA</a:t>
            </a:r>
          </a:p>
        </p:txBody>
      </p:sp>
      <p:sp>
        <p:nvSpPr>
          <p:cNvPr id="16" name="step-copy-1">
            <a:extLst xmlns:a="http://schemas.openxmlformats.org/drawingml/2006/main">
              <a:ext uri="{FF2B5EF4-FFF2-40B4-BE49-F238E27FC236}">
                <a16:creationId xmlns:a16="http://schemas.microsoft.com/office/drawing/2014/main" id="{8F3639BF-AF1A-44A6-AE1D-E96C9635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38425"/>
            <a:ext cx="1485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Validate dữ liệu;</a:t>
            </a:r>
          </a:p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che một số định danh</a:t>
            </a:r>
          </a:p>
        </p:txBody>
      </p:sp>
      <p:sp>
        <p:nvSpPr>
          <p:cNvPr id="1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DA1B06D9-D37B-4DD3-9F03-B5AECF88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57475"/>
            <a:ext cx="409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65"/>
          </a:bodyPr>
          <a:lstStyle xmlns:a="http://schemas.openxmlformats.org/drawingml/2006/main">
            <a:defPPr algn="ctr">
              <a:defRPr sz="20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tep-box-2">
            <a:extLst xmlns:a="http://schemas.openxmlformats.org/drawingml/2006/main">
              <a:ext uri="{FF2B5EF4-FFF2-40B4-BE49-F238E27FC236}">
                <a16:creationId xmlns:a16="http://schemas.microsoft.com/office/drawing/2014/main" id="{DEE60771-6DEA-45AB-A5AC-BFFB151D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76450"/>
            <a:ext cx="17907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19" name="step-mark-2">
            <a:extLst xmlns:a="http://schemas.openxmlformats.org/drawingml/2006/main">
              <a:ext uri="{FF2B5EF4-FFF2-40B4-BE49-F238E27FC236}">
                <a16:creationId xmlns:a16="http://schemas.microsoft.com/office/drawing/2014/main" id="{3F9D8111-A730-4E9A-9CF7-340CC56B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76450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A181765E-6E08-414E-8659-5A25F32A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7647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03  TRÍCH XUẤT</a:t>
            </a:r>
          </a:p>
        </p:txBody>
      </p:sp>
      <p:sp>
        <p:nvSpPr>
          <p:cNvPr id="21" name="step-copy-2">
            <a:extLst xmlns:a="http://schemas.openxmlformats.org/drawingml/2006/main">
              <a:ext uri="{FF2B5EF4-FFF2-40B4-BE49-F238E27FC236}">
                <a16:creationId xmlns:a16="http://schemas.microsoft.com/office/drawing/2014/main" id="{E569A80E-C99B-4DFE-9AD8-8086F470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38425"/>
            <a:ext cx="1485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>
            <a:def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Model đề xuất ý định,</a:t>
            </a:r>
          </a:p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dữ kiện và bằng chứng</a:t>
            </a:r>
          </a:p>
        </p:txBody>
      </p:sp>
      <p:sp>
        <p:nvSpPr>
          <p:cNvPr id="22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9F4404DB-8738-4D29-9E76-E005D4AC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57475"/>
            <a:ext cx="409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65"/>
          </a:bodyPr>
          <a:lstStyle xmlns:a="http://schemas.openxmlformats.org/drawingml/2006/main">
            <a:defPPr algn="ctr">
              <a:defRPr sz="20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step-box-3">
            <a:extLst xmlns:a="http://schemas.openxmlformats.org/drawingml/2006/main">
              <a:ext uri="{FF2B5EF4-FFF2-40B4-BE49-F238E27FC236}">
                <a16:creationId xmlns:a16="http://schemas.microsoft.com/office/drawing/2014/main" id="{E691432E-BED0-4DF0-A147-98E231FE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076450"/>
            <a:ext cx="17907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24" name="step-mark-3">
            <a:extLst xmlns:a="http://schemas.openxmlformats.org/drawingml/2006/main">
              <a:ext uri="{FF2B5EF4-FFF2-40B4-BE49-F238E27FC236}">
                <a16:creationId xmlns:a16="http://schemas.microsoft.com/office/drawing/2014/main" id="{853A1086-35BD-473D-AFCB-6E5BA43E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076450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BFF9F045-4935-4D36-9D22-94535E84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27647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04  ÁP POLICY</a:t>
            </a:r>
          </a:p>
        </p:txBody>
      </p:sp>
      <p:sp>
        <p:nvSpPr>
          <p:cNvPr id="26" name="step-copy-3">
            <a:extLst xmlns:a="http://schemas.openxmlformats.org/drawingml/2006/main">
              <a:ext uri="{FF2B5EF4-FFF2-40B4-BE49-F238E27FC236}">
                <a16:creationId xmlns:a16="http://schemas.microsoft.com/office/drawing/2014/main" id="{1BB57307-F2A2-4660-B625-6944A619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638425"/>
            <a:ext cx="1485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>
            <a:def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Rule v5.15 kiểm tra risk,</a:t>
            </a:r>
          </a:p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entitlement và dữ kiện</a:t>
            </a:r>
          </a:p>
        </p:txBody>
      </p:sp>
      <p:sp>
        <p:nvSpPr>
          <p:cNvPr id="27" name="step-arrow-3">
            <a:extLst xmlns:a="http://schemas.openxmlformats.org/drawingml/2006/main">
              <a:ext uri="{FF2B5EF4-FFF2-40B4-BE49-F238E27FC236}">
                <a16:creationId xmlns:a16="http://schemas.microsoft.com/office/drawing/2014/main" id="{B4CA354E-422E-4E66-972D-F2BFE4A0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57475"/>
            <a:ext cx="409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65"/>
          </a:bodyPr>
          <a:lstStyle xmlns:a="http://schemas.openxmlformats.org/drawingml/2006/main">
            <a:defPPr algn="ctr">
              <a:defRPr sz="20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step-box-4">
            <a:extLst xmlns:a="http://schemas.openxmlformats.org/drawingml/2006/main">
              <a:ext uri="{FF2B5EF4-FFF2-40B4-BE49-F238E27FC236}">
                <a16:creationId xmlns:a16="http://schemas.microsoft.com/office/drawing/2014/main" id="{A87EED1D-57A8-4E0F-BB23-3C5790A7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76450"/>
            <a:ext cx="17907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29" name="step-mark-4">
            <a:extLst xmlns:a="http://schemas.openxmlformats.org/drawingml/2006/main">
              <a:ext uri="{FF2B5EF4-FFF2-40B4-BE49-F238E27FC236}">
                <a16:creationId xmlns:a16="http://schemas.microsoft.com/office/drawing/2014/main" id="{68DE976F-E676-44D5-A55D-D3C7A393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76450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DFD9EE4C-B28A-4260-A247-2246D2C2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7647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05  ĐẦU RA</a:t>
            </a:r>
          </a:p>
        </p:txBody>
      </p:sp>
      <p:sp>
        <p:nvSpPr>
          <p:cNvPr id="31" name="step-copy-4">
            <a:extLst xmlns:a="http://schemas.openxmlformats.org/drawingml/2006/main">
              <a:ext uri="{FF2B5EF4-FFF2-40B4-BE49-F238E27FC236}">
                <a16:creationId xmlns:a16="http://schemas.microsoft.com/office/drawing/2014/main" id="{29FC11D7-10AF-44FD-9089-6F83F652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38425"/>
            <a:ext cx="1485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42"/>
          </a:bodyPr>
          <a:lstStyle xmlns:a="http://schemas.openxmlformats.org/drawingml/2006/main">
            <a:def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Hướng dẫn, hỏi rõ</a:t>
            </a:r>
          </a:p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hoặc chuyển người</a:t>
            </a:r>
          </a:p>
        </p:txBody>
      </p:sp>
      <p:sp>
        <p:nvSpPr>
          <p:cNvPr id="32" name="model-boundary">
            <a:extLst xmlns:a="http://schemas.openxmlformats.org/drawingml/2006/main">
              <a:ext uri="{FF2B5EF4-FFF2-40B4-BE49-F238E27FC236}">
                <a16:creationId xmlns:a16="http://schemas.microsoft.com/office/drawing/2014/main" id="{FF0DB9FD-1E2D-4940-B9F4-E2CFCD26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95700"/>
            <a:ext cx="404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Model không xác minh phê duyệt và không tự cấp quyền.</a:t>
            </a:r>
          </a:p>
        </p:txBody>
      </p:sp>
      <p:sp>
        <p:nvSpPr>
          <p:cNvPr id="33" name="human-audit-divider">
            <a:extLst xmlns:a="http://schemas.openxmlformats.org/drawingml/2006/main">
              <a:ext uri="{FF2B5EF4-FFF2-40B4-BE49-F238E27FC236}">
                <a16:creationId xmlns:a16="http://schemas.microsoft.com/office/drawing/2014/main" id="{2E136F87-AD9B-4145-A113-3EA6E6EE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uman-label">
            <a:extLst xmlns:a="http://schemas.openxmlformats.org/drawingml/2006/main">
              <a:ext uri="{FF2B5EF4-FFF2-40B4-BE49-F238E27FC236}">
                <a16:creationId xmlns:a16="http://schemas.microsoft.com/office/drawing/2014/main" id="{C03E2B67-FE0B-4C5C-89BB-E6137AC1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472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CON NGƯỜI GIỮ QUYỀN QUYẾT ĐỊNH</a:t>
            </a:r>
          </a:p>
        </p:txBody>
      </p:sp>
      <p:sp>
        <p:nvSpPr>
          <p:cNvPr id="35" name="human-copy">
            <a:extLst xmlns:a="http://schemas.openxmlformats.org/drawingml/2006/main">
              <a:ext uri="{FF2B5EF4-FFF2-40B4-BE49-F238E27FC236}">
                <a16:creationId xmlns:a16="http://schemas.microsoft.com/office/drawing/2014/main" id="{F6397D79-48DC-4689-AF5C-C384B9CB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5257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124"/>
                </a:solidFill>
                <a:latin typeface="Arial"/>
                <a:ea typeface="Arial"/>
                <a:cs typeface="Arial"/>
              </a:rPr>
              <a:t>Người gửi xác nhận trước khi tạo hồ sơ. Reviewer có thể hỏi thêm, approve/reject, Stop hoặc override kèm lý do.</a:t>
            </a:r>
          </a:p>
        </p:txBody>
      </p:sp>
      <p:sp>
        <p:nvSpPr>
          <p:cNvPr id="36" name="human-stop-limit">
            <a:extLst xmlns:a="http://schemas.openxmlformats.org/drawingml/2006/main">
              <a:ext uri="{FF2B5EF4-FFF2-40B4-BE49-F238E27FC236}">
                <a16:creationId xmlns:a16="http://schemas.microsoft.com/office/drawing/2014/main" id="{4AB42A76-367A-44B8-A185-CB02F425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60646C"/>
                </a:solidFill>
                <a:latin typeface="Arial"/>
                <a:ea typeface="Arial"/>
                <a:cs typeface="Arial"/>
              </a:rPr>
              <a:t>Stop/Override dừng luồng trong app; không hoàn tác hạ tầng bên ngoài.</a:t>
            </a:r>
          </a:p>
        </p:txBody>
      </p:sp>
      <p:sp>
        <p:nvSpPr>
          <p:cNvPr id="37" name="audit-left-rule">
            <a:extLst xmlns:a="http://schemas.openxmlformats.org/drawingml/2006/main">
              <a:ext uri="{FF2B5EF4-FFF2-40B4-BE49-F238E27FC236}">
                <a16:creationId xmlns:a16="http://schemas.microsoft.com/office/drawing/2014/main" id="{0DF0F0C2-6F6B-4CE0-BFB9-9E8A93CD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33875"/>
            <a:ext cx="285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udit-label">
            <a:extLst xmlns:a="http://schemas.openxmlformats.org/drawingml/2006/main">
              <a:ext uri="{FF2B5EF4-FFF2-40B4-BE49-F238E27FC236}">
                <a16:creationId xmlns:a16="http://schemas.microsoft.com/office/drawing/2014/main" id="{37CED079-8A26-424D-947B-730FFBB8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52925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NHẬT KÝ KIỂM TOÁN</a:t>
            </a:r>
          </a:p>
        </p:txBody>
      </p:sp>
      <p:sp>
        <p:nvSpPr>
          <p:cNvPr id="39" name="audit-copy">
            <a:extLst xmlns:a="http://schemas.openxmlformats.org/drawingml/2006/main">
              <a:ext uri="{FF2B5EF4-FFF2-40B4-BE49-F238E27FC236}">
                <a16:creationId xmlns:a16="http://schemas.microsoft.com/office/drawing/2014/main" id="{06BE4630-9F77-47E3-9683-DABF4C9B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95825"/>
            <a:ext cx="4705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124"/>
                </a:solidFill>
                <a:latin typeface="Arial"/>
                <a:ea typeface="Arial"/>
                <a:cs typeface="Arial"/>
              </a:rPr>
              <a:t>Ghi ai làm gì, lúc nào, theo rule nào, dựa trên bằng chứng nào và trạng thái sau xử lý.</a:t>
            </a:r>
          </a:p>
        </p:txBody>
      </p:sp>
      <p:sp>
        <p:nvSpPr>
          <p:cNvPr id="40" name="audit-fields">
            <a:extLst xmlns:a="http://schemas.openxmlformats.org/drawingml/2006/main">
              <a:ext uri="{FF2B5EF4-FFF2-40B4-BE49-F238E27FC236}">
                <a16:creationId xmlns:a16="http://schemas.microsoft.com/office/drawing/2014/main" id="{BABD8035-EEBE-4857-9977-10B32670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Actor  ·  Thời điểm  ·  Rule  ·  Evidence  ·  Lý do  ·  State</a:t>
            </a:r>
          </a:p>
        </p:txBody>
      </p:sp>
    </p:spTree>
    <p:extLst>
      <p:ext uri="{BB962C8B-B14F-4D97-AF65-F5344CB8AC3E}">
        <p14:creationId xmlns:p14="http://schemas.microsoft.com/office/powerpoint/2010/main" val="12294852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accent-3">
            <a:extLst xmlns:a="http://schemas.openxmlformats.org/drawingml/2006/main">
              <a:ext uri="{FF2B5EF4-FFF2-40B4-BE49-F238E27FC236}">
                <a16:creationId xmlns:a16="http://schemas.microsoft.com/office/drawing/2014/main" id="{7B8AD9B5-2F11-4D3E-96BE-BD291CF5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F7B06A0F-46D7-401B-BB08-29836C37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MLAI HACKATHON 2026  ·  ORGANIZATIONAI  ·  ĐỀ A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2CAEDE49-AED3-4CF6-A6F9-5B1B8FC9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Ba phản hồi, ba lỗi được sửa trong main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AA74DF51-E539-4571-9DA8-2134AE3A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646C"/>
                </a:solidFill>
                <a:latin typeface="Arial"/>
                <a:ea typeface="Arial"/>
                <a:cs typeface="Arial"/>
              </a:rPr>
              <a:t>Đối chiếu từng lỗi với sửa đổi và regression; chưa quy đổi thành thời gian tiết kiệm hay năng suất.</a:t>
            </a:r>
          </a:p>
        </p:txBody>
      </p:sp>
      <p:sp>
        <p:nvSpPr>
          <p:cNvPr id="5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3DE50764-6D25-4763-82A2-01C26A98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3">
            <a:extLst xmlns:a="http://schemas.openxmlformats.org/drawingml/2006/main">
              <a:ext uri="{FF2B5EF4-FFF2-40B4-BE49-F238E27FC236}">
                <a16:creationId xmlns:a16="http://schemas.microsoft.com/office/drawing/2014/main" id="{B77E110D-8DBF-455B-A09E-8C9175BF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0646C"/>
                </a:solidFill>
                <a:latin typeface="Arial"/>
                <a:ea typeface="Arial"/>
                <a:cs typeface="Arial"/>
              </a:rPr>
              <a:t>VNG Support  ·  Bản thảo 14.10.2026  ·  code v5.15 @ d585d02</a:t>
            </a:r>
          </a:p>
        </p:txBody>
      </p:sp>
      <p:sp>
        <p:nvSpPr>
          <p:cNvPr id="7" name="page-3">
            <a:extLst xmlns:a="http://schemas.openxmlformats.org/drawingml/2006/main">
              <a:ext uri="{FF2B5EF4-FFF2-40B4-BE49-F238E27FC236}">
                <a16:creationId xmlns:a16="http://schemas.microsoft.com/office/drawing/2014/main" id="{A16DB20F-197D-4730-8D99-8B5B571C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03 / 05</a:t>
            </a:r>
          </a:p>
        </p:txBody>
      </p:sp>
      <p:sp>
        <p:nvSpPr>
          <p:cNvPr id="8" name="table-head-1">
            <a:extLst xmlns:a="http://schemas.openxmlformats.org/drawingml/2006/main">
              <a:ext uri="{FF2B5EF4-FFF2-40B4-BE49-F238E27FC236}">
                <a16:creationId xmlns:a16="http://schemas.microsoft.com/office/drawing/2014/main" id="{214A1736-A512-4789-96DB-5B418460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NGƯỜI DÙNG / VIỆC LÀM</a:t>
            </a:r>
          </a:p>
        </p:txBody>
      </p:sp>
      <p:sp>
        <p:nvSpPr>
          <p:cNvPr id="9" name="table-head-2">
            <a:extLst xmlns:a="http://schemas.openxmlformats.org/drawingml/2006/main">
              <a:ext uri="{FF2B5EF4-FFF2-40B4-BE49-F238E27FC236}">
                <a16:creationId xmlns:a16="http://schemas.microsoft.com/office/drawing/2014/main" id="{C4A03971-98E7-459D-BF68-8F2B4617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TRƯỚC SỬA</a:t>
            </a:r>
          </a:p>
        </p:txBody>
      </p:sp>
      <p:sp>
        <p:nvSpPr>
          <p:cNvPr id="10" name="table-head-3">
            <a:extLst xmlns:a="http://schemas.openxmlformats.org/drawingml/2006/main">
              <a:ext uri="{FF2B5EF4-FFF2-40B4-BE49-F238E27FC236}">
                <a16:creationId xmlns:a16="http://schemas.microsoft.com/office/drawing/2014/main" id="{8D4A647A-1433-4688-A8EE-02885643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SAU SỬA</a:t>
            </a:r>
          </a:p>
        </p:txBody>
      </p:sp>
      <p:sp>
        <p:nvSpPr>
          <p:cNvPr id="11" name="table-head-4">
            <a:extLst xmlns:a="http://schemas.openxmlformats.org/drawingml/2006/main">
              <a:ext uri="{FF2B5EF4-FFF2-40B4-BE49-F238E27FC236}">
                <a16:creationId xmlns:a16="http://schemas.microsoft.com/office/drawing/2014/main" id="{C811D9AF-AD3E-451F-82B0-92E8AF02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KIỂM TRA HỒI QUY</a:t>
            </a:r>
          </a:p>
        </p:txBody>
      </p:sp>
      <p:sp>
        <p:nvSpPr>
          <p:cNvPr id="12" name="table-head-rule">
            <a:extLst xmlns:a="http://schemas.openxmlformats.org/drawingml/2006/main">
              <a:ext uri="{FF2B5EF4-FFF2-40B4-BE49-F238E27FC236}">
                <a16:creationId xmlns:a16="http://schemas.microsoft.com/office/drawing/2014/main" id="{FEFFF74F-6CE5-4A84-8A0C-1E3C5866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w-tag-0">
            <a:extLst xmlns:a="http://schemas.openxmlformats.org/drawingml/2006/main">
              <a:ext uri="{FF2B5EF4-FFF2-40B4-BE49-F238E27FC236}">
                <a16:creationId xmlns:a16="http://schemas.microsoft.com/office/drawing/2014/main" id="{65A0E96C-5FAA-4173-8024-E906A3A4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UT-01  ·  CHAT</a:t>
            </a:r>
          </a:p>
        </p:txBody>
      </p:sp>
      <p:sp>
        <p:nvSpPr>
          <p:cNvPr id="14" name="row-task-0">
            <a:extLst xmlns:a="http://schemas.openxmlformats.org/drawingml/2006/main">
              <a:ext uri="{FF2B5EF4-FFF2-40B4-BE49-F238E27FC236}">
                <a16:creationId xmlns:a16="http://schemas.microsoft.com/office/drawing/2014/main" id="{E7C4883D-09A9-4703-8FD1-AEAE93D3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762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02124"/>
                </a:solidFill>
                <a:latin typeface="Arial"/>
                <a:ea typeface="Arial"/>
                <a:cs typeface="Arial"/>
              </a:rPr>
              <a:t>Báo mạng vừa kết nối lại nhưng lại rớt.</a:t>
            </a:r>
          </a:p>
        </p:txBody>
      </p:sp>
      <p:sp>
        <p:nvSpPr>
          <p:cNvPr id="15" name="row-before-0">
            <a:extLst xmlns:a="http://schemas.openxmlformats.org/drawingml/2006/main">
              <a:ext uri="{FF2B5EF4-FFF2-40B4-BE49-F238E27FC236}">
                <a16:creationId xmlns:a16="http://schemas.microsoft.com/office/drawing/2014/main" id="{573F83A1-9569-41B4-8E1A-7FEC25E0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09800"/>
            <a:ext cx="285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“Vào lại được” có thể bị hiểu là đã xử lý xong.</a:t>
            </a:r>
          </a:p>
        </p:txBody>
      </p:sp>
      <p:sp>
        <p:nvSpPr>
          <p:cNvPr id="16" name="row-after-0">
            <a:extLst xmlns:a="http://schemas.openxmlformats.org/drawingml/2006/main">
              <a:ext uri="{FF2B5EF4-FFF2-40B4-BE49-F238E27FC236}">
                <a16:creationId xmlns:a16="http://schemas.microsoft.com/office/drawing/2014/main" id="{A09021DB-740D-4594-9CA7-99F5C908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30099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Dấu hiệu tái diễn chặn RESOLVED; hội thoại tiếp tục mở.</a:t>
            </a:r>
          </a:p>
        </p:txBody>
      </p:sp>
      <p:sp>
        <p:nvSpPr>
          <p:cNvPr id="17" name="row-check-0">
            <a:extLst xmlns:a="http://schemas.openxmlformats.org/drawingml/2006/main">
              <a:ext uri="{FF2B5EF4-FFF2-40B4-BE49-F238E27FC236}">
                <a16:creationId xmlns:a16="http://schemas.microsoft.com/office/drawing/2014/main" id="{82B01610-1BE5-4DA9-B058-39D1AE8B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0980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76141"/>
                </a:solidFill>
                <a:latin typeface="Arial"/>
                <a:ea typeface="Arial"/>
                <a:cs typeface="Arial"/>
              </a:rPr>
              <a:t>Unit regression</a:t>
            </a:r>
          </a:p>
          <a:p xmlns:a="http://schemas.openxmlformats.org/drawingml/2006/main">
            <a:pPr>
              <a:defRPr sz="1125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76141"/>
                </a:solidFill>
                <a:latin typeface="Arial"/>
                <a:ea typeface="Arial"/>
                <a:cs typeface="Arial"/>
              </a:rPr>
              <a:t>sentiment</a:t>
            </a:r>
          </a:p>
        </p:txBody>
      </p:sp>
      <p:sp>
        <p:nvSpPr>
          <p:cNvPr id="18" name="row-rule-0">
            <a:extLst xmlns:a="http://schemas.openxmlformats.org/drawingml/2006/main">
              <a:ext uri="{FF2B5EF4-FFF2-40B4-BE49-F238E27FC236}">
                <a16:creationId xmlns:a16="http://schemas.microsoft.com/office/drawing/2014/main" id="{E33859A4-46D6-4477-9F37-AC0A2842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ow-tag-1">
            <a:extLst xmlns:a="http://schemas.openxmlformats.org/drawingml/2006/main">
              <a:ext uri="{FF2B5EF4-FFF2-40B4-BE49-F238E27FC236}">
                <a16:creationId xmlns:a16="http://schemas.microsoft.com/office/drawing/2014/main" id="{B88DFF6D-A9F3-45B7-8253-5A5BDFD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UT-02  ·  FORM</a:t>
            </a:r>
          </a:p>
        </p:txBody>
      </p:sp>
      <p:sp>
        <p:nvSpPr>
          <p:cNvPr id="20" name="row-task-1">
            <a:extLst xmlns:a="http://schemas.openxmlformats.org/drawingml/2006/main">
              <a:ext uri="{FF2B5EF4-FFF2-40B4-BE49-F238E27FC236}">
                <a16:creationId xmlns:a16="http://schemas.microsoft.com/office/drawing/2014/main" id="{80606887-C6B7-4DD2-9F85-E2E6D5BA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762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02124"/>
                </a:solidFill>
                <a:latin typeface="Arial"/>
                <a:ea typeface="Arial"/>
                <a:cs typeface="Arial"/>
              </a:rPr>
              <a:t>Đổi nhóm cấp quyền sang sự cố VPN.</a:t>
            </a:r>
          </a:p>
        </p:txBody>
      </p:sp>
      <p:sp>
        <p:nvSpPr>
          <p:cNvPr id="21" name="row-before-1">
            <a:extLst xmlns:a="http://schemas.openxmlformats.org/drawingml/2006/main">
              <a:ext uri="{FF2B5EF4-FFF2-40B4-BE49-F238E27FC236}">
                <a16:creationId xmlns:a16="http://schemas.microsoft.com/office/drawing/2014/main" id="{8F26ACA2-68D1-4CB6-8038-D5DE71A1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05150"/>
            <a:ext cx="285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ACCESS_REQUEST cũ còn lưu và có thể đẩy sai tuyến.</a:t>
            </a:r>
          </a:p>
        </p:txBody>
      </p:sp>
      <p:sp>
        <p:nvSpPr>
          <p:cNvPr id="22" name="row-after-1">
            <a:extLst xmlns:a="http://schemas.openxmlformats.org/drawingml/2006/main">
              <a:ext uri="{FF2B5EF4-FFF2-40B4-BE49-F238E27FC236}">
                <a16:creationId xmlns:a16="http://schemas.microsoft.com/office/drawing/2014/main" id="{B1B2FD3D-C9D9-4297-90E2-784B5A52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05150"/>
            <a:ext cx="30099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Đổi nhóm xóa requestKind; người gửi chọn loại mới.</a:t>
            </a:r>
          </a:p>
        </p:txBody>
      </p:sp>
      <p:sp>
        <p:nvSpPr>
          <p:cNvPr id="23" name="row-check-1">
            <a:extLst xmlns:a="http://schemas.openxmlformats.org/drawingml/2006/main">
              <a:ext uri="{FF2B5EF4-FFF2-40B4-BE49-F238E27FC236}">
                <a16:creationId xmlns:a16="http://schemas.microsoft.com/office/drawing/2014/main" id="{E1560065-D808-4FC5-9633-F445647F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76141"/>
                </a:solidFill>
                <a:latin typeface="Arial"/>
                <a:ea typeface="Arial"/>
                <a:cs typeface="Arial"/>
              </a:rPr>
              <a:t>Playwright E2E</a:t>
            </a:r>
          </a:p>
          <a:p xmlns:a="http://schemas.openxmlformats.org/drawingml/2006/main">
            <a:pPr>
              <a:defRPr sz="1125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76141"/>
                </a:solidFill>
                <a:latin typeface="Arial"/>
                <a:ea typeface="Arial"/>
                <a:cs typeface="Arial"/>
              </a:rPr>
              <a:t>form + submit</a:t>
            </a:r>
          </a:p>
        </p:txBody>
      </p:sp>
      <p:sp>
        <p:nvSpPr>
          <p:cNvPr id="24" name="row-rule-1">
            <a:extLst xmlns:a="http://schemas.openxmlformats.org/drawingml/2006/main">
              <a:ext uri="{FF2B5EF4-FFF2-40B4-BE49-F238E27FC236}">
                <a16:creationId xmlns:a16="http://schemas.microsoft.com/office/drawing/2014/main" id="{643381F2-390A-4C7B-A3FD-DE5F8CEC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ow-tag-2">
            <a:extLst xmlns:a="http://schemas.openxmlformats.org/drawingml/2006/main">
              <a:ext uri="{FF2B5EF4-FFF2-40B4-BE49-F238E27FC236}">
                <a16:creationId xmlns:a16="http://schemas.microsoft.com/office/drawing/2014/main" id="{534DB6BD-B218-4043-9472-B2CB7636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UT-03  ·  AUDIT</a:t>
            </a:r>
          </a:p>
        </p:txBody>
      </p:sp>
      <p:sp>
        <p:nvSpPr>
          <p:cNvPr id="26" name="row-task-2">
            <a:extLst xmlns:a="http://schemas.openxmlformats.org/drawingml/2006/main">
              <a:ext uri="{FF2B5EF4-FFF2-40B4-BE49-F238E27FC236}">
                <a16:creationId xmlns:a16="http://schemas.microsoft.com/office/drawing/2014/main" id="{9558ECDC-F090-4518-AE18-3E46A0FD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762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02124"/>
                </a:solidFill>
                <a:latin typeface="Arial"/>
                <a:ea typeface="Arial"/>
                <a:cs typeface="Arial"/>
              </a:rPr>
              <a:t>Đối chiếu rule trong policy và audit.</a:t>
            </a:r>
          </a:p>
        </p:txBody>
      </p:sp>
      <p:sp>
        <p:nvSpPr>
          <p:cNvPr id="27" name="row-before-2">
            <a:extLst xmlns:a="http://schemas.openxmlformats.org/drawingml/2006/main">
              <a:ext uri="{FF2B5EF4-FFF2-40B4-BE49-F238E27FC236}">
                <a16:creationId xmlns:a16="http://schemas.microsoft.com/office/drawing/2014/main" id="{C5E98DB0-BE33-48F6-880F-6EE9187F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00500"/>
            <a:ext cx="285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PUBLIC_EXPOSURE và SECURITY_CONTROL cùng mã SEC-002.</a:t>
            </a:r>
          </a:p>
        </p:txBody>
      </p:sp>
      <p:sp>
        <p:nvSpPr>
          <p:cNvPr id="28" name="row-after-2">
            <a:extLst xmlns:a="http://schemas.openxmlformats.org/drawingml/2006/main">
              <a:ext uri="{FF2B5EF4-FFF2-40B4-BE49-F238E27FC236}">
                <a16:creationId xmlns:a16="http://schemas.microsoft.com/office/drawing/2014/main" id="{DAE92FC2-EC52-41C7-8E37-A98C8F25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500"/>
            <a:ext cx="30099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SECURITY_CONTROL dùng SEC-008; ID rule phải duy nhất.</a:t>
            </a:r>
          </a:p>
        </p:txBody>
      </p:sp>
      <p:sp>
        <p:nvSpPr>
          <p:cNvPr id="29" name="row-check-2">
            <a:extLst xmlns:a="http://schemas.openxmlformats.org/drawingml/2006/main">
              <a:ext uri="{FF2B5EF4-FFF2-40B4-BE49-F238E27FC236}">
                <a16:creationId xmlns:a16="http://schemas.microsoft.com/office/drawing/2014/main" id="{1994F9EF-6D03-4C0F-A606-C95D54F9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76141"/>
                </a:solidFill>
                <a:latin typeface="Arial"/>
                <a:ea typeface="Arial"/>
                <a:cs typeface="Arial"/>
              </a:rPr>
              <a:t>Policy contract</a:t>
            </a:r>
          </a:p>
          <a:p xmlns:a="http://schemas.openxmlformats.org/drawingml/2006/main">
            <a:pPr>
              <a:defRPr sz="1125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76141"/>
                </a:solidFill>
                <a:latin typeface="Arial"/>
                <a:ea typeface="Arial"/>
                <a:cs typeface="Arial"/>
              </a:rPr>
              <a:t>unique IDs</a:t>
            </a:r>
          </a:p>
        </p:txBody>
      </p:sp>
      <p:sp>
        <p:nvSpPr>
          <p:cNvPr id="30" name="measure-band">
            <a:extLst xmlns:a="http://schemas.openxmlformats.org/drawingml/2006/main">
              <a:ext uri="{FF2B5EF4-FFF2-40B4-BE49-F238E27FC236}">
                <a16:creationId xmlns:a16="http://schemas.microsoft.com/office/drawing/2014/main" id="{9E7E98D8-7FAA-45E6-9E32-536F77C5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easure-band-accent">
            <a:extLst xmlns:a="http://schemas.openxmlformats.org/drawingml/2006/main">
              <a:ext uri="{FF2B5EF4-FFF2-40B4-BE49-F238E27FC236}">
                <a16:creationId xmlns:a16="http://schemas.microsoft.com/office/drawing/2014/main" id="{2751EEB8-8852-4327-BE99-47CDE806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measure-label">
            <a:extLst xmlns:a="http://schemas.openxmlformats.org/drawingml/2006/main">
              <a:ext uri="{FF2B5EF4-FFF2-40B4-BE49-F238E27FC236}">
                <a16:creationId xmlns:a16="http://schemas.microsoft.com/office/drawing/2014/main" id="{01AFFB3B-8347-469B-8AC2-88C3D85F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3872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CÁCH ĐO</a:t>
            </a:r>
          </a:p>
        </p:txBody>
      </p:sp>
      <p:sp>
        <p:nvSpPr>
          <p:cNvPr id="33" name="measure-copy">
            <a:extLst xmlns:a="http://schemas.openxmlformats.org/drawingml/2006/main">
              <a:ext uri="{FF2B5EF4-FFF2-40B4-BE49-F238E27FC236}">
                <a16:creationId xmlns:a16="http://schemas.microsoft.com/office/drawing/2014/main" id="{1A076001-AEAD-4978-B375-5E6F9286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6000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124"/>
                </a:solidFill>
                <a:latin typeface="Arial"/>
                <a:ea typeface="Arial"/>
                <a:cs typeface="Arial"/>
              </a:rPr>
              <a:t>Tái hiện input synthetic; assert trạng thái ticket, giá trị requestKind và tính duy nhất mã rule.</a:t>
            </a:r>
          </a:p>
        </p:txBody>
      </p:sp>
      <p:sp>
        <p:nvSpPr>
          <p:cNvPr id="34" name="measure-separator">
            <a:extLst xmlns:a="http://schemas.openxmlformats.org/drawingml/2006/main">
              <a:ext uri="{FF2B5EF4-FFF2-40B4-BE49-F238E27FC236}">
                <a16:creationId xmlns:a16="http://schemas.microsoft.com/office/drawing/2014/main" id="{230AB3F6-903F-404C-9858-781EAE6A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57775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measure-result">
            <a:extLst xmlns:a="http://schemas.openxmlformats.org/drawingml/2006/main">
              <a:ext uri="{FF2B5EF4-FFF2-40B4-BE49-F238E27FC236}">
                <a16:creationId xmlns:a16="http://schemas.microsoft.com/office/drawing/2014/main" id="{C3B1DBB7-C136-4E78-9993-54285681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57775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76141"/>
                </a:solidFill>
                <a:latin typeface="Arial"/>
                <a:ea typeface="Arial"/>
                <a:cs typeface="Arial"/>
              </a:rPr>
              <a:t>900 unit/integration tests  ·  PASS</a:t>
            </a:r>
          </a:p>
        </p:txBody>
      </p:sp>
      <p:sp>
        <p:nvSpPr>
          <p:cNvPr id="36" name="measure-result-note">
            <a:extLst xmlns:a="http://schemas.openxmlformats.org/drawingml/2006/main">
              <a:ext uri="{FF2B5EF4-FFF2-40B4-BE49-F238E27FC236}">
                <a16:creationId xmlns:a16="http://schemas.microsoft.com/office/drawing/2014/main" id="{A25C7D49-6AEF-4CA2-BC67-96F8B395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429250"/>
            <a:ext cx="3752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646C"/>
                </a:solidFill>
                <a:latin typeface="Arial"/>
                <a:ea typeface="Arial"/>
                <a:cs typeface="Arial"/>
              </a:rPr>
              <a:t>Repo ghi nhận 35 regression synthetic; không phải participant retest.</a:t>
            </a:r>
          </a:p>
        </p:txBody>
      </p:sp>
      <p:sp>
        <p:nvSpPr>
          <p:cNvPr id="37" name="measure-limit">
            <a:extLst xmlns:a="http://schemas.openxmlformats.org/drawingml/2006/main">
              <a:ext uri="{FF2B5EF4-FFF2-40B4-BE49-F238E27FC236}">
                <a16:creationId xmlns:a16="http://schemas.microsoft.com/office/drawing/2014/main" id="{36F8D914-700F-4FE7-9B19-8E2004DE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5A00"/>
                </a:solidFill>
                <a:latin typeface="Arial"/>
                <a:ea typeface="Arial"/>
                <a:cs typeface="Arial"/>
              </a:rPr>
              <a:t>Chưa có người dùng retest bản sửa; chưa đo thời gian xử lý, tỷ lệ hoàn tất hoặc gánh nặng phát sinh.</a:t>
            </a:r>
          </a:p>
        </p:txBody>
      </p:sp>
    </p:spTree>
    <p:extLst>
      <p:ext uri="{BB962C8B-B14F-4D97-AF65-F5344CB8AC3E}">
        <p14:creationId xmlns:p14="http://schemas.microsoft.com/office/powerpoint/2010/main" val="987830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accent-4">
            <a:extLst xmlns:a="http://schemas.openxmlformats.org/drawingml/2006/main">
              <a:ext uri="{FF2B5EF4-FFF2-40B4-BE49-F238E27FC236}">
                <a16:creationId xmlns:a16="http://schemas.microsoft.com/office/drawing/2014/main" id="{6D3C0257-55D1-4B26-ACD0-D5019FF6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4">
            <a:extLst xmlns:a="http://schemas.openxmlformats.org/drawingml/2006/main">
              <a:ext uri="{FF2B5EF4-FFF2-40B4-BE49-F238E27FC236}">
                <a16:creationId xmlns:a16="http://schemas.microsoft.com/office/drawing/2014/main" id="{D100966E-C57B-43FE-B2E1-36838071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MLAI HACKATHON 2026  ·  ORGANIZATIONAI  ·  ĐỀ A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4BD8E9C0-19D5-4A25-9298-1CB9D8D3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Kiến trúc hệ thống và ranh giới dữ liệu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1928D356-ED06-4518-AB6D-16E3D3E6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646C"/>
                </a:solidFill>
                <a:latin typeface="Arial"/>
                <a:ea typeface="Arial"/>
                <a:cs typeface="Arial"/>
              </a:rPr>
              <a:t>Ứng dụng có luồng quyết định và audit trong code; tác nghiệp hạ tầng vẫn là mô phỏng.</a:t>
            </a:r>
          </a:p>
        </p:txBody>
      </p:sp>
      <p:sp>
        <p:nvSpPr>
          <p:cNvPr id="5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B3C210B0-D09E-4379-B278-1A89AC42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4">
            <a:extLst xmlns:a="http://schemas.openxmlformats.org/drawingml/2006/main">
              <a:ext uri="{FF2B5EF4-FFF2-40B4-BE49-F238E27FC236}">
                <a16:creationId xmlns:a16="http://schemas.microsoft.com/office/drawing/2014/main" id="{50BFC69E-0898-4A8E-A633-DB8BF44C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0646C"/>
                </a:solidFill>
                <a:latin typeface="Arial"/>
                <a:ea typeface="Arial"/>
                <a:cs typeface="Arial"/>
              </a:rPr>
              <a:t>VNG Support  ·  Bản thảo 14.10.2026  ·  code v5.15 @ d585d02</a:t>
            </a:r>
          </a:p>
        </p:txBody>
      </p:sp>
      <p:sp>
        <p:nvSpPr>
          <p:cNvPr id="7" name="page-4">
            <a:extLst xmlns:a="http://schemas.openxmlformats.org/drawingml/2006/main">
              <a:ext uri="{FF2B5EF4-FFF2-40B4-BE49-F238E27FC236}">
                <a16:creationId xmlns:a16="http://schemas.microsoft.com/office/drawing/2014/main" id="{AFC7A4FD-5D86-4049-A2AD-6016D447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04 / 05</a:t>
            </a:r>
          </a:p>
        </p:txBody>
      </p:sp>
      <p:sp>
        <p:nvSpPr>
          <p:cNvPr id="8" name="architecture-box-0">
            <a:extLst xmlns:a="http://schemas.openxmlformats.org/drawingml/2006/main">
              <a:ext uri="{FF2B5EF4-FFF2-40B4-BE49-F238E27FC236}">
                <a16:creationId xmlns:a16="http://schemas.microsoft.com/office/drawing/2014/main" id="{0B48CEA3-DC36-40E4-A9F0-4F430667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790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9" name="architecture-mark-0">
            <a:extLst xmlns:a="http://schemas.openxmlformats.org/drawingml/2006/main">
              <a:ext uri="{FF2B5EF4-FFF2-40B4-BE49-F238E27FC236}">
                <a16:creationId xmlns:a16="http://schemas.microsoft.com/office/drawing/2014/main" id="{572260D2-6DF3-4766-A195-17D9088D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rchitecture-label-0">
            <a:extLst xmlns:a="http://schemas.openxmlformats.org/drawingml/2006/main">
              <a:ext uri="{FF2B5EF4-FFF2-40B4-BE49-F238E27FC236}">
                <a16:creationId xmlns:a16="http://schemas.microsoft.com/office/drawing/2014/main" id="{849A2C05-05B0-4FCB-9BA0-1356982D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524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NGƯỜI GỬI</a:t>
            </a:r>
          </a:p>
        </p:txBody>
      </p:sp>
      <p:sp>
        <p:nvSpPr>
          <p:cNvPr id="11" name="architecture-copy-0">
            <a:extLst xmlns:a="http://schemas.openxmlformats.org/drawingml/2006/main">
              <a:ext uri="{FF2B5EF4-FFF2-40B4-BE49-F238E27FC236}">
                <a16:creationId xmlns:a16="http://schemas.microsoft.com/office/drawing/2014/main" id="{E98FBEB1-AFF2-4D05-8AD9-16687DF9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Nội dung tự do</a:t>
            </a:r>
          </a:p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hoặc danh mục</a:t>
            </a:r>
          </a:p>
        </p:txBody>
      </p:sp>
      <p:sp>
        <p:nvSpPr>
          <p:cNvPr id="12" name="architecture-arrow-0">
            <a:extLst xmlns:a="http://schemas.openxmlformats.org/drawingml/2006/main">
              <a:ext uri="{FF2B5EF4-FFF2-40B4-BE49-F238E27FC236}">
                <a16:creationId xmlns:a16="http://schemas.microsoft.com/office/drawing/2014/main" id="{FFC7AE82-942A-455F-B047-875E3D82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71725"/>
            <a:ext cx="40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54"/>
          </a:bodyPr>
          <a:lstStyle xmlns:a="http://schemas.openxmlformats.org/drawingml/2006/main">
            <a:defPPr algn="ctr">
              <a:defRPr sz="195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architecture-box-1">
            <a:extLst xmlns:a="http://schemas.openxmlformats.org/drawingml/2006/main">
              <a:ext uri="{FF2B5EF4-FFF2-40B4-BE49-F238E27FC236}">
                <a16:creationId xmlns:a16="http://schemas.microsoft.com/office/drawing/2014/main" id="{608760CC-95EA-4ED4-B47B-1DA2D324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71675"/>
            <a:ext cx="1790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14" name="architecture-mark-1">
            <a:extLst xmlns:a="http://schemas.openxmlformats.org/drawingml/2006/main">
              <a:ext uri="{FF2B5EF4-FFF2-40B4-BE49-F238E27FC236}">
                <a16:creationId xmlns:a16="http://schemas.microsoft.com/office/drawing/2014/main" id="{E36F1345-9BAB-4DC1-A4FA-FE5A1D92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71675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rchitecture-label-1">
            <a:extLst xmlns:a="http://schemas.openxmlformats.org/drawingml/2006/main">
              <a:ext uri="{FF2B5EF4-FFF2-40B4-BE49-F238E27FC236}">
                <a16:creationId xmlns:a16="http://schemas.microsoft.com/office/drawing/2014/main" id="{9036E806-D766-44A8-921C-3C5DA830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152650"/>
            <a:ext cx="1524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WEB + API</a:t>
            </a:r>
          </a:p>
        </p:txBody>
      </p:sp>
      <p:sp>
        <p:nvSpPr>
          <p:cNvPr id="16" name="architecture-copy-1">
            <a:extLst xmlns:a="http://schemas.openxmlformats.org/drawingml/2006/main">
              <a:ext uri="{FF2B5EF4-FFF2-40B4-BE49-F238E27FC236}">
                <a16:creationId xmlns:a16="http://schemas.microsoft.com/office/drawing/2014/main" id="{3EB292FD-11F9-4399-918B-80C85E3D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574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Next.js · React</a:t>
            </a:r>
          </a:p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TypeScript</a:t>
            </a:r>
          </a:p>
        </p:txBody>
      </p:sp>
      <p:sp>
        <p:nvSpPr>
          <p:cNvPr id="17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57469BA4-5D88-4FF0-BCC1-1EE1F1F9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71725"/>
            <a:ext cx="40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54"/>
          </a:bodyPr>
          <a:lstStyle xmlns:a="http://schemas.openxmlformats.org/drawingml/2006/main">
            <a:defPPr algn="ctr">
              <a:defRPr sz="195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architecture-box-2">
            <a:extLst xmlns:a="http://schemas.openxmlformats.org/drawingml/2006/main">
              <a:ext uri="{FF2B5EF4-FFF2-40B4-BE49-F238E27FC236}">
                <a16:creationId xmlns:a16="http://schemas.microsoft.com/office/drawing/2014/main" id="{604D223D-D85C-49B0-BFFB-F0603D5B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71675"/>
            <a:ext cx="1790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19" name="architecture-mark-2">
            <a:extLst xmlns:a="http://schemas.openxmlformats.org/drawingml/2006/main">
              <a:ext uri="{FF2B5EF4-FFF2-40B4-BE49-F238E27FC236}">
                <a16:creationId xmlns:a16="http://schemas.microsoft.com/office/drawing/2014/main" id="{C5363F03-081F-48A6-A489-62852D80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71675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chitecture-label-2">
            <a:extLst xmlns:a="http://schemas.openxmlformats.org/drawingml/2006/main">
              <a:ext uri="{FF2B5EF4-FFF2-40B4-BE49-F238E27FC236}">
                <a16:creationId xmlns:a16="http://schemas.microsoft.com/office/drawing/2014/main" id="{06B40A61-3CF1-435C-B856-37F32F51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52650"/>
            <a:ext cx="1524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MODEL ADAPTER</a:t>
            </a:r>
          </a:p>
        </p:txBody>
      </p:sp>
      <p:sp>
        <p:nvSpPr>
          <p:cNvPr id="21" name="architecture-copy-2">
            <a:extLst xmlns:a="http://schemas.openxmlformats.org/drawingml/2006/main">
              <a:ext uri="{FF2B5EF4-FFF2-40B4-BE49-F238E27FC236}">
                <a16:creationId xmlns:a16="http://schemas.microsoft.com/office/drawing/2014/main" id="{A26DFDED-0842-4815-BC42-434E5457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Intent · facts</a:t>
            </a:r>
          </a:p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2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032A2455-303E-4901-A645-15860C92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71725"/>
            <a:ext cx="40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54"/>
          </a:bodyPr>
          <a:lstStyle xmlns:a="http://schemas.openxmlformats.org/drawingml/2006/main">
            <a:defPPr algn="ctr">
              <a:defRPr sz="195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architecture-box-3">
            <a:extLst xmlns:a="http://schemas.openxmlformats.org/drawingml/2006/main">
              <a:ext uri="{FF2B5EF4-FFF2-40B4-BE49-F238E27FC236}">
                <a16:creationId xmlns:a16="http://schemas.microsoft.com/office/drawing/2014/main" id="{092BFA91-6824-407F-B7F9-A0517BD8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971675"/>
            <a:ext cx="1790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24" name="architecture-mark-3">
            <a:extLst xmlns:a="http://schemas.openxmlformats.org/drawingml/2006/main">
              <a:ext uri="{FF2B5EF4-FFF2-40B4-BE49-F238E27FC236}">
                <a16:creationId xmlns:a16="http://schemas.microsoft.com/office/drawing/2014/main" id="{13FD01A0-CE7A-414B-8A6D-E2BA8703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971675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rchitecture-label-3">
            <a:extLst xmlns:a="http://schemas.openxmlformats.org/drawingml/2006/main">
              <a:ext uri="{FF2B5EF4-FFF2-40B4-BE49-F238E27FC236}">
                <a16:creationId xmlns:a16="http://schemas.microsoft.com/office/drawing/2014/main" id="{438053FB-AEA1-4B0A-8F62-DF8D238B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152650"/>
            <a:ext cx="1524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POLICY ENGINE</a:t>
            </a:r>
          </a:p>
        </p:txBody>
      </p:sp>
      <p:sp>
        <p:nvSpPr>
          <p:cNvPr id="26" name="architecture-copy-3">
            <a:extLst xmlns:a="http://schemas.openxmlformats.org/drawingml/2006/main">
              <a:ext uri="{FF2B5EF4-FFF2-40B4-BE49-F238E27FC236}">
                <a16:creationId xmlns:a16="http://schemas.microsoft.com/office/drawing/2014/main" id="{844C570E-1F48-4B28-87F3-2635EBA2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4574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Rule tất định</a:t>
            </a:r>
          </a:p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v5.15</a:t>
            </a:r>
          </a:p>
        </p:txBody>
      </p:sp>
      <p:sp>
        <p:nvSpPr>
          <p:cNvPr id="27" name="architecture-arrow-3">
            <a:extLst xmlns:a="http://schemas.openxmlformats.org/drawingml/2006/main">
              <a:ext uri="{FF2B5EF4-FFF2-40B4-BE49-F238E27FC236}">
                <a16:creationId xmlns:a16="http://schemas.microsoft.com/office/drawing/2014/main" id="{D8EA503F-24EA-4DBB-B375-CC74A24E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71725"/>
            <a:ext cx="40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54"/>
          </a:bodyPr>
          <a:lstStyle xmlns:a="http://schemas.openxmlformats.org/drawingml/2006/main">
            <a:defPPr algn="ctr">
              <a:defRPr sz="195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architecture-box-4">
            <a:extLst xmlns:a="http://schemas.openxmlformats.org/drawingml/2006/main">
              <a:ext uri="{FF2B5EF4-FFF2-40B4-BE49-F238E27FC236}">
                <a16:creationId xmlns:a16="http://schemas.microsoft.com/office/drawing/2014/main" id="{98E7E6A3-E75E-4B32-ADF3-8F1E3E70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71675"/>
            <a:ext cx="1790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29" name="architecture-mark-4">
            <a:extLst xmlns:a="http://schemas.openxmlformats.org/drawingml/2006/main">
              <a:ext uri="{FF2B5EF4-FFF2-40B4-BE49-F238E27FC236}">
                <a16:creationId xmlns:a16="http://schemas.microsoft.com/office/drawing/2014/main" id="{6CC6A333-20CF-44E9-8C1B-BE7B84E0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71675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rchitecture-label-4">
            <a:extLst xmlns:a="http://schemas.openxmlformats.org/drawingml/2006/main">
              <a:ext uri="{FF2B5EF4-FFF2-40B4-BE49-F238E27FC236}">
                <a16:creationId xmlns:a16="http://schemas.microsoft.com/office/drawing/2014/main" id="{4D54A7CE-FBDA-48BD-869D-8CB0B020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52650"/>
            <a:ext cx="1524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31" name="architecture-copy-4">
            <a:extLst xmlns:a="http://schemas.openxmlformats.org/drawingml/2006/main">
              <a:ext uri="{FF2B5EF4-FFF2-40B4-BE49-F238E27FC236}">
                <a16:creationId xmlns:a16="http://schemas.microsoft.com/office/drawing/2014/main" id="{C4BC5AC0-B1FD-4017-9402-DCDBC5B1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574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Hướng dẫn · hỏi</a:t>
            </a:r>
          </a:p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hoặc reviewer</a:t>
            </a:r>
          </a:p>
        </p:txBody>
      </p:sp>
      <p:sp>
        <p:nvSpPr>
          <p:cNvPr id="32" name="architecture-audit-line">
            <a:extLst xmlns:a="http://schemas.openxmlformats.org/drawingml/2006/main">
              <a:ext uri="{FF2B5EF4-FFF2-40B4-BE49-F238E27FC236}">
                <a16:creationId xmlns:a16="http://schemas.microsoft.com/office/drawing/2014/main" id="{485072C6-71B9-4F15-B772-FE102A9F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architecture-audit">
            <a:extLst xmlns:a="http://schemas.openxmlformats.org/drawingml/2006/main">
              <a:ext uri="{FF2B5EF4-FFF2-40B4-BE49-F238E27FC236}">
                <a16:creationId xmlns:a16="http://schemas.microsoft.com/office/drawing/2014/main" id="{FBB5B2E9-F9DD-404E-A02B-76F156FB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AUDIT: actor  ·  timestamp  ·  matched rule  ·  evidence  ·  lý do  ·  trạng thái</a:t>
            </a:r>
          </a:p>
        </p:txBody>
      </p:sp>
      <p:sp>
        <p:nvSpPr>
          <p:cNvPr id="34" name="real-data-head">
            <a:extLst xmlns:a="http://schemas.openxmlformats.org/drawingml/2006/main">
              <a:ext uri="{FF2B5EF4-FFF2-40B4-BE49-F238E27FC236}">
                <a16:creationId xmlns:a16="http://schemas.microsoft.com/office/drawing/2014/main" id="{DDA0FDC1-2106-493B-8FBB-8E17E2AE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510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141"/>
                </a:solidFill>
                <a:latin typeface="Arial"/>
                <a:ea typeface="Arial"/>
                <a:cs typeface="Arial"/>
              </a:rPr>
              <a:t>THẬT / ĐÃ CÓ TRONG PHẠM VI DỰ ÁN</a:t>
            </a:r>
          </a:p>
        </p:txBody>
      </p:sp>
      <p:sp>
        <p:nvSpPr>
          <p:cNvPr id="35" name="real-rule">
            <a:extLst xmlns:a="http://schemas.openxmlformats.org/drawingml/2006/main">
              <a:ext uri="{FF2B5EF4-FFF2-40B4-BE49-F238E27FC236}">
                <a16:creationId xmlns:a16="http://schemas.microsoft.com/office/drawing/2014/main" id="{1484E3E0-9B58-4DD8-A6A0-CD71EE8D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eal-data-body">
            <a:extLst xmlns:a="http://schemas.openxmlformats.org/drawingml/2006/main">
              <a:ext uri="{FF2B5EF4-FFF2-40B4-BE49-F238E27FC236}">
                <a16:creationId xmlns:a16="http://schemas.microsoft.com/office/drawing/2014/main" id="{2E477C51-BB5B-46E5-82F2-E57DF52D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510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UI/API, policy tất định có version, audit và tìm kiếm tri thức BM25 có nguồn.</a:t>
            </a:r>
          </a:p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3 phản hồi tester ngày 13.10.2026; vai trò Helpdesk chưa xác minh.</a:t>
            </a:r>
          </a:p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Không có ticket production trong hồ sơ.</a:t>
            </a:r>
          </a:p>
        </p:txBody>
      </p:sp>
      <p:sp>
        <p:nvSpPr>
          <p:cNvPr id="37" name="sim-data-head">
            <a:extLst xmlns:a="http://schemas.openxmlformats.org/drawingml/2006/main">
              <a:ext uri="{FF2B5EF4-FFF2-40B4-BE49-F238E27FC236}">
                <a16:creationId xmlns:a16="http://schemas.microsoft.com/office/drawing/2014/main" id="{18C8EDDD-0928-4614-8763-81FF298A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76675"/>
            <a:ext cx="510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A5A00"/>
                </a:solidFill>
                <a:latin typeface="Arial"/>
                <a:ea typeface="Arial"/>
                <a:cs typeface="Arial"/>
              </a:rPr>
              <a:t>GIẢ LẬP / CHƯA ĐƯỢC XÁC MINH</a:t>
            </a:r>
          </a:p>
        </p:txBody>
      </p:sp>
      <p:sp>
        <p:nvSpPr>
          <p:cNvPr id="38" name="sim-rule">
            <a:extLst xmlns:a="http://schemas.openxmlformats.org/drawingml/2006/main">
              <a:ext uri="{FF2B5EF4-FFF2-40B4-BE49-F238E27FC236}">
                <a16:creationId xmlns:a16="http://schemas.microsoft.com/office/drawing/2014/main" id="{522F089A-1EB2-4B51-AE86-20C26754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81475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8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im-data-body">
            <a:extLst xmlns:a="http://schemas.openxmlformats.org/drawingml/2006/main">
              <a:ext uri="{FF2B5EF4-FFF2-40B4-BE49-F238E27FC236}">
                <a16:creationId xmlns:a16="http://schemas.microsoft.com/office/drawing/2014/main" id="{5DB9F960-2AD9-493A-BA65-1855DA48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05300"/>
            <a:ext cx="510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Ticket và policy demo là synthetic; mock model/memory được dùng trong CI/local.</a:t>
            </a:r>
          </a:p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IAM/Cloud/DB không được thực thi; reviewer public không phải production auth.</a:t>
            </a:r>
          </a:p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OpenAI có thể cấu hình; chất lượng live chưa được đánh giá độc lập.</a:t>
            </a:r>
          </a:p>
        </p:txBody>
      </p:sp>
      <p:sp>
        <p:nvSpPr>
          <p:cNvPr id="40" name="demo-link">
            <a:extLst xmlns:a="http://schemas.openxmlformats.org/drawingml/2006/main">
              <a:ext uri="{FF2B5EF4-FFF2-40B4-BE49-F238E27FC236}">
                <a16:creationId xmlns:a16="http://schemas.microsoft.com/office/drawing/2014/main" id="{779B0400-3374-4839-BAB3-EE9F55CB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Demo: https://vng-support.vercel.app</a:t>
            </a:r>
          </a:p>
        </p:txBody>
      </p:sp>
      <p:sp>
        <p:nvSpPr>
          <p:cNvPr id="41" name="demo-revision">
            <a:extLst xmlns:a="http://schemas.openxmlformats.org/drawingml/2006/main">
              <a:ext uri="{FF2B5EF4-FFF2-40B4-BE49-F238E27FC236}">
                <a16:creationId xmlns:a16="http://schemas.microsoft.com/office/drawing/2014/main" id="{620A4479-EF42-44A2-B303-3AA4CF1B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819775"/>
            <a:ext cx="5267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60646C"/>
                </a:solidFill>
                <a:latin typeface="Arial"/>
                <a:ea typeface="Arial"/>
                <a:cs typeface="Arial"/>
              </a:rPr>
              <a:t>Code đo: d585d02 / v5.15  ·  SHA deployment: cần đối chiếu</a:t>
            </a:r>
          </a:p>
        </p:txBody>
      </p:sp>
    </p:spTree>
    <p:extLst>
      <p:ext uri="{BB962C8B-B14F-4D97-AF65-F5344CB8AC3E}">
        <p14:creationId xmlns:p14="http://schemas.microsoft.com/office/powerpoint/2010/main" val="8881776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accent-5">
            <a:extLst xmlns:a="http://schemas.openxmlformats.org/drawingml/2006/main">
              <a:ext uri="{FF2B5EF4-FFF2-40B4-BE49-F238E27FC236}">
                <a16:creationId xmlns:a16="http://schemas.microsoft.com/office/drawing/2014/main" id="{7E0AF013-C10D-4F7A-B518-259C8F97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5">
            <a:extLst xmlns:a="http://schemas.openxmlformats.org/drawingml/2006/main">
              <a:ext uri="{FF2B5EF4-FFF2-40B4-BE49-F238E27FC236}">
                <a16:creationId xmlns:a16="http://schemas.microsoft.com/office/drawing/2014/main" id="{490736F8-3880-4395-8CF9-4141DDE0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MLAI HACKATHON 2026  ·  ORGANIZATIONAI  ·  ĐỀ A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4162BDB0-1C5D-4992-B456-3AA0B3AA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Giới hạn, rủi ro và bước kiểm chứng tiếp theo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2B8A9E2F-F67F-4425-AC7E-6584C6F7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646C"/>
                </a:solidFill>
                <a:latin typeface="Arial"/>
                <a:ea typeface="Arial"/>
                <a:cs typeface="Arial"/>
              </a:rPr>
              <a:t>Bản demo chứng minh luồng phần mềm; chưa chứng minh hiệu quả vận hành hay mức sẵn sàng production.</a:t>
            </a:r>
          </a:p>
        </p:txBody>
      </p:sp>
      <p:sp>
        <p:nvSpPr>
          <p:cNvPr id="5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3585D859-145D-4E76-85F9-44534A18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5">
            <a:extLst xmlns:a="http://schemas.openxmlformats.org/drawingml/2006/main">
              <a:ext uri="{FF2B5EF4-FFF2-40B4-BE49-F238E27FC236}">
                <a16:creationId xmlns:a16="http://schemas.microsoft.com/office/drawing/2014/main" id="{7CABA66D-238B-4737-8E90-BC4ECEBA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0646C"/>
                </a:solidFill>
                <a:latin typeface="Arial"/>
                <a:ea typeface="Arial"/>
                <a:cs typeface="Arial"/>
              </a:rPr>
              <a:t>VNG Support  ·  Bản thảo 14.10.2026  ·  code v5.15 @ d585d02</a:t>
            </a:r>
          </a:p>
        </p:txBody>
      </p:sp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F56C1127-D99E-4B7B-9A1E-B6345912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05 / 05</a:t>
            </a:r>
          </a:p>
        </p:txBody>
      </p:sp>
      <p:sp>
        <p:nvSpPr>
          <p:cNvPr id="8" name="limits-callout">
            <a:extLst xmlns:a="http://schemas.openxmlformats.org/drawingml/2006/main">
              <a:ext uri="{FF2B5EF4-FFF2-40B4-BE49-F238E27FC236}">
                <a16:creationId xmlns:a16="http://schemas.microsoft.com/office/drawing/2014/main" id="{E231F060-AE85-4FF0-8EE4-AEB6BDEA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imits-callout-mark">
            <a:extLst xmlns:a="http://schemas.openxmlformats.org/drawingml/2006/main">
              <a:ext uri="{FF2B5EF4-FFF2-40B4-BE49-F238E27FC236}">
                <a16:creationId xmlns:a16="http://schemas.microsoft.com/office/drawing/2014/main" id="{5900C6BE-B5E3-4550-9278-1A4DF159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imits-callout-text">
            <a:extLst xmlns:a="http://schemas.openxmlformats.org/drawingml/2006/main">
              <a:ext uri="{FF2B5EF4-FFF2-40B4-BE49-F238E27FC236}">
                <a16:creationId xmlns:a16="http://schemas.microsoft.com/office/drawing/2014/main" id="{3EA2D177-A080-41AD-988A-1EAAABF5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14525"/>
            <a:ext cx="1042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Chưa có cơ sở tuyên bố tiết kiệm thời gian, độ chính xác trên held-out data hoặc an toàn production.</a:t>
            </a:r>
          </a:p>
        </p:txBody>
      </p:sp>
      <p:sp>
        <p:nvSpPr>
          <p:cNvPr id="11" name="risk-col-head">
            <a:extLst xmlns:a="http://schemas.openxmlformats.org/drawingml/2006/main">
              <a:ext uri="{FF2B5EF4-FFF2-40B4-BE49-F238E27FC236}">
                <a16:creationId xmlns:a16="http://schemas.microsoft.com/office/drawing/2014/main" id="{8E98D502-1C40-4DCE-B9CE-FEC746BA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GIỚI HẠN HIỆN TẠI</a:t>
            </a:r>
          </a:p>
        </p:txBody>
      </p:sp>
      <p:sp>
        <p:nvSpPr>
          <p:cNvPr id="12" name="next-col-head">
            <a:extLst xmlns:a="http://schemas.openxmlformats.org/drawingml/2006/main">
              <a:ext uri="{FF2B5EF4-FFF2-40B4-BE49-F238E27FC236}">
                <a16:creationId xmlns:a16="http://schemas.microsoft.com/office/drawing/2014/main" id="{7A581482-0115-4A4B-840C-F6F95593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520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VIỆC CẦN LÀM</a:t>
            </a:r>
          </a:p>
        </p:txBody>
      </p:sp>
      <p:sp>
        <p:nvSpPr>
          <p:cNvPr id="13" name="risk-head-rule">
            <a:extLst xmlns:a="http://schemas.openxmlformats.org/drawingml/2006/main">
              <a:ext uri="{FF2B5EF4-FFF2-40B4-BE49-F238E27FC236}">
                <a16:creationId xmlns:a16="http://schemas.microsoft.com/office/drawing/2014/main" id="{84C5121F-444B-4015-A1A1-95FCF17F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isk-tag-0">
            <a:extLst xmlns:a="http://schemas.openxmlformats.org/drawingml/2006/main">
              <a:ext uri="{FF2B5EF4-FFF2-40B4-BE49-F238E27FC236}">
                <a16:creationId xmlns:a16="http://schemas.microsoft.com/office/drawing/2014/main" id="{B0DC480E-3815-4EA4-AC96-36075F9D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1676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NGƯỜI DÙNG</a:t>
            </a:r>
          </a:p>
        </p:txBody>
      </p:sp>
      <p:sp>
        <p:nvSpPr>
          <p:cNvPr id="15" name="risk-text-0">
            <a:extLst xmlns:a="http://schemas.openxmlformats.org/drawingml/2006/main">
              <a:ext uri="{FF2B5EF4-FFF2-40B4-BE49-F238E27FC236}">
                <a16:creationId xmlns:a16="http://schemas.microsoft.com/office/drawing/2014/main" id="{6A08297C-9D48-41F8-8CA8-09B84E1A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194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3 report; chưa xác minh vai trò Helpdesk; chưa có participant retest hoặc số đo thời gian/task success.</a:t>
            </a:r>
          </a:p>
        </p:txBody>
      </p:sp>
      <p:sp>
        <p:nvSpPr>
          <p:cNvPr id="16" name="next-text-0">
            <a:extLst xmlns:a="http://schemas.openxmlformats.org/drawingml/2006/main">
              <a:ext uri="{FF2B5EF4-FFF2-40B4-BE49-F238E27FC236}">
                <a16:creationId xmlns:a16="http://schemas.microsoft.com/office/drawing/2014/main" id="{06711D76-3DFD-449C-ACF7-C8618523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19400"/>
            <a:ext cx="520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Retest trên deployment đã xác nhận SHA; ghi task success, trợ giúp, bỏ cuộc và thời gian.</a:t>
            </a:r>
          </a:p>
        </p:txBody>
      </p:sp>
      <p:sp>
        <p:nvSpPr>
          <p:cNvPr id="17" name="risk-row-rule-0">
            <a:extLst xmlns:a="http://schemas.openxmlformats.org/drawingml/2006/main">
              <a:ext uri="{FF2B5EF4-FFF2-40B4-BE49-F238E27FC236}">
                <a16:creationId xmlns:a16="http://schemas.microsoft.com/office/drawing/2014/main" id="{B0960CC7-C47C-4DCE-9857-9EA89B81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isk-tag-1">
            <a:extLst xmlns:a="http://schemas.openxmlformats.org/drawingml/2006/main">
              <a:ext uri="{FF2B5EF4-FFF2-40B4-BE49-F238E27FC236}">
                <a16:creationId xmlns:a16="http://schemas.microsoft.com/office/drawing/2014/main" id="{6B16EBAB-027A-48F0-9D8B-1285D12E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676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ĐỘ CHÍNH XÁC</a:t>
            </a:r>
          </a:p>
        </p:txBody>
      </p:sp>
      <p:sp>
        <p:nvSpPr>
          <p:cNvPr id="19" name="risk-text-1">
            <a:extLst xmlns:a="http://schemas.openxmlformats.org/drawingml/2006/main">
              <a:ext uri="{FF2B5EF4-FFF2-40B4-BE49-F238E27FC236}">
                <a16:creationId xmlns:a16="http://schemas.microsoft.com/office/drawing/2014/main" id="{2A4AC0A8-EC51-4E90-8B64-A563032A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6235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39/128 mismatch trên development set; nhãn chưa adjudicate; không có held-out độc lập.</a:t>
            </a:r>
          </a:p>
        </p:txBody>
      </p:sp>
      <p:sp>
        <p:nvSpPr>
          <p:cNvPr id="20" name="next-text-1">
            <a:extLst xmlns:a="http://schemas.openxmlformats.org/drawingml/2006/main">
              <a:ext uri="{FF2B5EF4-FFF2-40B4-BE49-F238E27FC236}">
                <a16:creationId xmlns:a16="http://schemas.microsoft.com/office/drawing/2014/main" id="{F80061D0-41A4-40C6-843C-CC4332BC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520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Phân xử nhãn; đo missed và unnecessary escalation trên tập độc lập, kèm tử số/mẫu số.</a:t>
            </a:r>
          </a:p>
        </p:txBody>
      </p:sp>
      <p:sp>
        <p:nvSpPr>
          <p:cNvPr id="21" name="risk-row-rule-1">
            <a:extLst xmlns:a="http://schemas.openxmlformats.org/drawingml/2006/main">
              <a:ext uri="{FF2B5EF4-FFF2-40B4-BE49-F238E27FC236}">
                <a16:creationId xmlns:a16="http://schemas.microsoft.com/office/drawing/2014/main" id="{80380025-7D7D-4232-960A-3FC164D2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isk-tag-2">
            <a:extLst xmlns:a="http://schemas.openxmlformats.org/drawingml/2006/main">
              <a:ext uri="{FF2B5EF4-FFF2-40B4-BE49-F238E27FC236}">
                <a16:creationId xmlns:a16="http://schemas.microsoft.com/office/drawing/2014/main" id="{448F33D1-E0AE-4173-9714-FD84C07E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676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A5A00"/>
                </a:solidFill>
                <a:latin typeface="Arial"/>
                <a:ea typeface="Arial"/>
                <a:cs typeface="Arial"/>
              </a:rPr>
              <a:t>QUYỀN &amp; RIÊNG TƯ</a:t>
            </a:r>
          </a:p>
        </p:txBody>
      </p:sp>
      <p:sp>
        <p:nvSpPr>
          <p:cNvPr id="23" name="risk-text-2">
            <a:extLst xmlns:a="http://schemas.openxmlformats.org/drawingml/2006/main">
              <a:ext uri="{FF2B5EF4-FFF2-40B4-BE49-F238E27FC236}">
                <a16:creationId xmlns:a16="http://schemas.microsoft.com/office/drawing/2014/main" id="{07893705-98D3-400F-B332-8BAF76BC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053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Reviewer/ID demo không phải xác thực production; redaction chưa che tên/địa chỉ tự do.</a:t>
            </a:r>
          </a:p>
        </p:txBody>
      </p:sp>
      <p:sp>
        <p:nvSpPr>
          <p:cNvPr id="24" name="next-text-2">
            <a:extLst xmlns:a="http://schemas.openxmlformats.org/drawingml/2006/main">
              <a:ext uri="{FF2B5EF4-FFF2-40B4-BE49-F238E27FC236}">
                <a16:creationId xmlns:a16="http://schemas.microsoft.com/office/drawing/2014/main" id="{838C6AD7-0229-44BB-BFFA-4247A830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05300"/>
            <a:ext cx="520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Giữ dữ liệu synthetic; chốt SSO/RBAC, quyền truy cập, retention và ranh giới dữ liệu.</a:t>
            </a:r>
          </a:p>
        </p:txBody>
      </p:sp>
      <p:sp>
        <p:nvSpPr>
          <p:cNvPr id="25" name="risk-row-rule-2">
            <a:extLst xmlns:a="http://schemas.openxmlformats.org/drawingml/2006/main">
              <a:ext uri="{FF2B5EF4-FFF2-40B4-BE49-F238E27FC236}">
                <a16:creationId xmlns:a16="http://schemas.microsoft.com/office/drawing/2014/main" id="{945674C6-64FD-44BF-92F2-5FF23A16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isk-tag-3">
            <a:extLst xmlns:a="http://schemas.openxmlformats.org/drawingml/2006/main">
              <a:ext uri="{FF2B5EF4-FFF2-40B4-BE49-F238E27FC236}">
                <a16:creationId xmlns:a16="http://schemas.microsoft.com/office/drawing/2014/main" id="{63007E2B-02C6-4DB2-9302-FA2FDA13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1676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TÁC NGHIỆP</a:t>
            </a:r>
          </a:p>
        </p:txBody>
      </p:sp>
      <p:sp>
        <p:nvSpPr>
          <p:cNvPr id="27" name="risk-text-3">
            <a:extLst xmlns:a="http://schemas.openxmlformats.org/drawingml/2006/main">
              <a:ext uri="{FF2B5EF4-FFF2-40B4-BE49-F238E27FC236}">
                <a16:creationId xmlns:a16="http://schemas.microsoft.com/office/drawing/2014/main" id="{1D50417C-7875-4EC8-A00D-A9CABC01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4825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IAM/Cloud/DB chỉ mô phỏng; Mongo restart và SHA live chưa được xác minh.</a:t>
            </a:r>
          </a:p>
        </p:txBody>
      </p:sp>
      <p:sp>
        <p:nvSpPr>
          <p:cNvPr id="28" name="next-text-3">
            <a:extLst xmlns:a="http://schemas.openxmlformats.org/drawingml/2006/main">
              <a:ext uri="{FF2B5EF4-FFF2-40B4-BE49-F238E27FC236}">
                <a16:creationId xmlns:a16="http://schemas.microsoft.com/office/drawing/2014/main" id="{61792089-C847-4981-9D2F-31976D64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48250"/>
            <a:ext cx="520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Đối chiếu sourceRevision; kiểm thử persistence và connector trong môi trường thử nghiệm được phép.</a:t>
            </a:r>
          </a:p>
        </p:txBody>
      </p:sp>
      <p:sp>
        <p:nvSpPr>
          <p:cNvPr id="29" name="risk-bottom-rule">
            <a:extLst xmlns:a="http://schemas.openxmlformats.org/drawingml/2006/main">
              <a:ext uri="{FF2B5EF4-FFF2-40B4-BE49-F238E27FC236}">
                <a16:creationId xmlns:a16="http://schemas.microsoft.com/office/drawing/2014/main" id="{32259DB6-C86C-4B25-B554-95835337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risk-disclosure">
            <a:extLst xmlns:a="http://schemas.openxmlformats.org/drawingml/2006/main">
              <a:ext uri="{FF2B5EF4-FFF2-40B4-BE49-F238E27FC236}">
                <a16:creationId xmlns:a16="http://schemas.microsoft.com/office/drawing/2014/main" id="{B4546FCE-9B91-4C59-94EA-7E5470B6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Policy trong demo là đề xuất synthetic, không phải quy định chính thức hoặc xác nhận của VNG.</a:t>
            </a:r>
          </a:p>
        </p:txBody>
      </p:sp>
    </p:spTree>
    <p:extLst>
      <p:ext uri="{BB962C8B-B14F-4D97-AF65-F5344CB8AC3E}">
        <p14:creationId xmlns:p14="http://schemas.microsoft.com/office/powerpoint/2010/main" val="784237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2026-10-13T21:27:10.5160000Z</dcterms:created>
  <dcterms:modified xsi:type="dcterms:W3CDTF">2026-10-13T21:27:10.5160000Z</dcterms:modified>
</coreProperties>
</file>