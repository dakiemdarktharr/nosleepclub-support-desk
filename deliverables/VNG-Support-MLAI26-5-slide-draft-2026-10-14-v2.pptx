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02b7c8a64e4492" /><Relationship Type="http://schemas.openxmlformats.org/officeDocument/2006/relationships/extended-properties" Target="/docProps/app.xml" Id="R2921b3d1ff1b48dd" /><Relationship Type="http://schemas.openxmlformats.org/officeDocument/2006/relationships/officeDocument" Target="/ppt/presentation.xml" Id="R08e0bfcc95bb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a135e44bee429b"/>
  </p:sldMasterIdLst>
  <p:notesMasterIdLst>
    <p:notesMasterId xmlns:r="http://schemas.openxmlformats.org/officeDocument/2006/relationships" r:id="Rec504f67a6394ca1"/>
  </p:notesMasterIdLst>
  <p:sldIdLst>
    <p:sldId xmlns:r="http://schemas.openxmlformats.org/officeDocument/2006/relationships" id="256" r:id="R43ec7efecc5a424c"/>
    <p:sldId xmlns:r="http://schemas.openxmlformats.org/officeDocument/2006/relationships" id="257" r:id="Ra1c28eb22efb41b8"/>
    <p:sldId xmlns:r="http://schemas.openxmlformats.org/officeDocument/2006/relationships" id="258" r:id="R04204da2ddb64f29"/>
    <p:sldId xmlns:r="http://schemas.openxmlformats.org/officeDocument/2006/relationships" id="259" r:id="R8bbe7ac595164e3d"/>
    <p:sldId xmlns:r="http://schemas.openxmlformats.org/officeDocument/2006/relationships" id="260" r:id="Rdc48124a5c0d4f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c4c72dee94d89" /><Relationship Type="http://schemas.openxmlformats.org/officeDocument/2006/relationships/slideMaster" Target="/ppt/slideMasters/slideMaster1.xml" Id="Rb7a135e44bee429b" /><Relationship Type="http://schemas.openxmlformats.org/officeDocument/2006/relationships/notesMaster" Target="/ppt/notesMasters/notesMaster1.xml" Id="Rec504f67a6394ca1" /><Relationship Type="http://schemas.openxmlformats.org/officeDocument/2006/relationships/presProps" Target="/ppt/presProps.xml" Id="R46c9c3393b124b63" /><Relationship Type="http://schemas.openxmlformats.org/officeDocument/2006/relationships/tableStyles" Target="/ppt/tableStyles.xml" Id="R7e090fc31d7349a7" /><Relationship Type="http://schemas.openxmlformats.org/officeDocument/2006/relationships/slide" Target="/ppt/slides/slide1.xml" Id="R43ec7efecc5a424c" /><Relationship Type="http://schemas.openxmlformats.org/officeDocument/2006/relationships/slide" Target="/ppt/slides/slide2.xml" Id="Ra1c28eb22efb41b8" /><Relationship Type="http://schemas.openxmlformats.org/officeDocument/2006/relationships/slide" Target="/ppt/slides/slide3.xml" Id="R04204da2ddb64f29" /><Relationship Type="http://schemas.openxmlformats.org/officeDocument/2006/relationships/slide" Target="/ppt/slides/slide4.xml" Id="R8bbe7ac595164e3d" /><Relationship Type="http://schemas.openxmlformats.org/officeDocument/2006/relationships/slide" Target="/ppt/slides/slide5.xml" Id="Rdc48124a5c0d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9217c9a58f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9d69faab84d8d" /><Relationship Type="http://schemas.openxmlformats.org/officeDocument/2006/relationships/notesMaster" Target="/ppt/notesMasters/notesMaster1.xml" Id="Rf58288b4cd774e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3b86f1ae2c4acf" /><Relationship Type="http://schemas.openxmlformats.org/officeDocument/2006/relationships/notesMaster" Target="/ppt/notesMasters/notesMaster1.xml" Id="Rca8f93993add48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6e167935ce49b2" /><Relationship Type="http://schemas.openxmlformats.org/officeDocument/2006/relationships/notesMaster" Target="/ppt/notesMasters/notesMaster1.xml" Id="Re0e1599c8f854a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c0683d6209477f" /><Relationship Type="http://schemas.openxmlformats.org/officeDocument/2006/relationships/notesMaster" Target="/ppt/notesMasters/notesMaster1.xml" Id="R93c66f0485ef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2e027e23ac4c91" /><Relationship Type="http://schemas.openxmlformats.org/officeDocument/2006/relationships/notesMaster" Target="/ppt/notesMasters/notesMaster1.xml" Id="R8103560a8fd1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Challenge_Brief_OrganizationAI_VN.docx.md, mục Đề A và cấu trúc Slide 1; README.md; docs/USER-TEST-FINDINGS-2026-10-13.md. Ba vấn đề là phản ánh có trong tài liệu người dùng cung cấp, không đại diện cho tỷ lệ lỗi hay khối lượng công việc của Helpdesk.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README.md, các phần luồng người gửi, xử lý viên, Verify/audit; RUNBOOK.md; src/domain/policy.ts; src/services/review.ts; src/components/support-workspace.tsx. Các quyền Stop/Override là workflow nội bộ ứng dụng, không thực thi hay hoàn tác tài nguyên ngoài hệ thống.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chính: docs/USER-TEST-FINDINGS-2026-10-13.md. Các mã UT-01/02/03 giữ nguyên danh tính trong hồ sơ nguồn; vai trò được ghi là Tester. Báo cáo ghi 18 test trong sentiment-separation/domain-contract, 1 Playwright E2E, typegen/tsc và lint đạt; người tham gia chưa retest. Slide chỉ mô tả kết quả kỹ thuật, không tuyên bố cải thiện năng suất. Brief: Slide 3 yêu cầu đối chiếu trước/sau và phương pháp đo.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README.md; RUNBOOK.md; docs/SUBMISSION-CONTENT.md; src/domain/policy-source.ts; src/domain/knowledge-search.ts; src/app/api/support/health/route.ts; docs/USER-TEST-FINDINGS-2026-10-13.md. Data distinction follows brief section 1: synthetic/actual data must be disclosed on Slide 4. Project docs state demo policies and cases are synthetic/proposed, not official VNG policy. Verify the live sourceRevision before presenting this URL as the current main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docs/USER-TEST-FINDINGS-2026-10-13.md; README.md, giới hạn demo/xác thực; RUNBOOK.md, kiểm tra sourceRevision và persistence; docs/PRIVACY-INVENTORY.md; docs/TECHNICAL-READINESS.md; docs/INDEPENDENT-EVALUATION-PROTOCOL.md. Tài liệu readiness phân biệt development fixture với held-out độc lập, và ghi rõ chưa chứng minh Mongo production, OpenAI quality hay tác động người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73b9fa35444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40c56eaf345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434fe591949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cbaa6da2848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d71c42a434b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b0d058d95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CC223D-F448-4EE0-8337-50885610A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4FF444-8FDD-40E6-8632-BF0F99C925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45B720-697A-48D8-80E4-B1A2E3C4A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E79234-D8CD-4A3F-8AC4-934A4FB92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69A41C-73C5-401D-AC01-84F2A59D37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CFAD64-DC59-4581-B29C-1578A3106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41A82B-ACB9-4CDA-98AC-5B6D4176B6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FACE9D-7CD4-433C-8D82-FD3BF87D51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4CEE1B-E219-4228-85D0-B031F13FE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DBE1F9-2987-4B89-96E0-ED565C7C8C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d112037f74132" /><Relationship Type="http://schemas.openxmlformats.org/officeDocument/2006/relationships/slideLayout" Target="/ppt/slideLayouts/slideLayout1.xml" Id="R9e2ebc819cf24c55" /><Relationship Type="http://schemas.openxmlformats.org/officeDocument/2006/relationships/slideLayout" Target="/ppt/slideLayouts/slideLayout2.xml" Id="Re90d1464275e47a9" /><Relationship Type="http://schemas.openxmlformats.org/officeDocument/2006/relationships/slideLayout" Target="/ppt/slideLayouts/slideLayout3.xml" Id="Rf9f642fca8a04d24" /><Relationship Type="http://schemas.openxmlformats.org/officeDocument/2006/relationships/slideLayout" Target="/ppt/slideLayouts/slideLayout4.xml" Id="R603f605558b64de9" /><Relationship Type="http://schemas.openxmlformats.org/officeDocument/2006/relationships/slideLayout" Target="/ppt/slideLayouts/slideLayout5.xml" Id="R14e929d4732946ed" /><Relationship Type="http://schemas.openxmlformats.org/officeDocument/2006/relationships/slideLayout" Target="/ppt/slideLayouts/slideLayout6.xml" Id="R51ec8750a2d04b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2ebc819cf24c55"/>
    <p:sldLayoutId xmlns:r="http://schemas.openxmlformats.org/officeDocument/2006/relationships" id="2147483650" r:id="Re90d1464275e47a9"/>
    <p:sldLayoutId xmlns:r="http://schemas.openxmlformats.org/officeDocument/2006/relationships" id="2147483651" r:id="Rf9f642fca8a04d24"/>
    <p:sldLayoutId xmlns:r="http://schemas.openxmlformats.org/officeDocument/2006/relationships" id="2147483652" r:id="R603f605558b64de9"/>
    <p:sldLayoutId xmlns:r="http://schemas.openxmlformats.org/officeDocument/2006/relationships" id="2147483653" r:id="R14e929d4732946ed"/>
    <p:sldLayoutId xmlns:r="http://schemas.openxmlformats.org/officeDocument/2006/relationships" id="2147483654" r:id="R51ec8750a2d04b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ac5d161c141f4" /><Relationship Type="http://schemas.openxmlformats.org/officeDocument/2006/relationships/notesSlide" Target="/ppt/notesSlides/notesSlide1.xml" Id="Rdf18eec6f110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e08e049324b39" /><Relationship Type="http://schemas.openxmlformats.org/officeDocument/2006/relationships/notesSlide" Target="/ppt/notesSlides/notesSlide2.xml" Id="Rf60ee94798ae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be4b6f97343f2" /><Relationship Type="http://schemas.openxmlformats.org/officeDocument/2006/relationships/notesSlide" Target="/ppt/notesSlides/notesSlide3.xml" Id="R175d256b135e42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8094fb4064311" /><Relationship Type="http://schemas.openxmlformats.org/officeDocument/2006/relationships/notesSlide" Target="/ppt/notesSlides/notesSlide4.xml" Id="R6e59e6313e214d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7b824f59047be" /><Relationship Type="http://schemas.openxmlformats.org/officeDocument/2006/relationships/notesSlide" Target="/ppt/notesSlides/notesSlide5.xml" Id="R842dc66b72e143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accent-1">
            <a:extLst xmlns:a="http://schemas.openxmlformats.org/drawingml/2006/main">
              <a:ext uri="{FF2B5EF4-FFF2-40B4-BE49-F238E27FC236}">
                <a16:creationId xmlns:a16="http://schemas.microsoft.com/office/drawing/2014/main" id="{49E318F4-866D-47EA-A278-608C5AB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77158008-CBCC-45B1-998D-37DBB145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CFDCD8B6-C7AD-498A-A944-E76B6EF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Bài toán hiện trạng: xử lý thường quy, dừng đúng lúc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4A2C48C7-E2F1-4B42-B1DD-3D410367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IT Helpdesk cần tự hỗ trợ an toàn mà không đóng nhầm lỗi còn tái diễn hoặc chuyển nhầm tuyến.</a:t>
            </a:r>
          </a:p>
        </p:txBody>
      </p:sp>
      <p:sp>
        <p:nvSpPr>
          <p:cNvPr id="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2DF2AE2-C00A-4605-AA69-71CF7CEF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FEA9307D-2382-4C0D-91CF-9143D7F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main @ e5bae44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95FD7FC4-6661-4091-B2EC-07F4EE6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  <p:sp>
        <p:nvSpPr>
          <p:cNvPr id="8" name="problem-flow-0">
            <a:extLst xmlns:a="http://schemas.openxmlformats.org/drawingml/2006/main">
              <a:ext uri="{FF2B5EF4-FFF2-40B4-BE49-F238E27FC236}">
                <a16:creationId xmlns:a16="http://schemas.microsoft.com/office/drawing/2014/main" id="{7A534C39-4D00-4382-817D-B741A243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9" name="problem-flow-accent-0">
            <a:extLst xmlns:a="http://schemas.openxmlformats.org/drawingml/2006/main">
              <a:ext uri="{FF2B5EF4-FFF2-40B4-BE49-F238E27FC236}">
                <a16:creationId xmlns:a16="http://schemas.microsoft.com/office/drawing/2014/main" id="{A8B890E3-3D42-4FC1-A6DF-D6A9B2EF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flow-label-0">
            <a:extLst xmlns:a="http://schemas.openxmlformats.org/drawingml/2006/main">
              <a:ext uri="{FF2B5EF4-FFF2-40B4-BE49-F238E27FC236}">
                <a16:creationId xmlns:a16="http://schemas.microsoft.com/office/drawing/2014/main" id="{39CE260E-68CF-4B08-A9E8-A0B3C5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01  TIẾP NHẬN</a:t>
            </a:r>
          </a:p>
        </p:txBody>
      </p:sp>
      <p:sp>
        <p:nvSpPr>
          <p:cNvPr id="11" name="problem-flow-body-0">
            <a:extLst xmlns:a="http://schemas.openxmlformats.org/drawingml/2006/main">
              <a:ext uri="{FF2B5EF4-FFF2-40B4-BE49-F238E27FC236}">
                <a16:creationId xmlns:a16="http://schemas.microsoft.com/office/drawing/2014/main" id="{8BB1451B-916B-4253-B55C-FDB1E12C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Mô tả vấn đề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chọn danh mục</a:t>
            </a:r>
          </a:p>
        </p:txBody>
      </p:sp>
      <p:sp>
        <p:nvSpPr>
          <p:cNvPr id="12" name="problem-flow-arrow-0">
            <a:extLst xmlns:a="http://schemas.openxmlformats.org/drawingml/2006/main">
              <a:ext uri="{FF2B5EF4-FFF2-40B4-BE49-F238E27FC236}">
                <a16:creationId xmlns:a16="http://schemas.microsoft.com/office/drawing/2014/main" id="{698DEBF2-6DD1-4B03-876A-0F36866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241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roblem-flow-1">
            <a:extLst xmlns:a="http://schemas.openxmlformats.org/drawingml/2006/main">
              <a:ext uri="{FF2B5EF4-FFF2-40B4-BE49-F238E27FC236}">
                <a16:creationId xmlns:a16="http://schemas.microsoft.com/office/drawing/2014/main" id="{2C1F8491-8140-4A17-8DD8-0CE8689F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71675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4" name="problem-flow-accent-1">
            <a:extLst xmlns:a="http://schemas.openxmlformats.org/drawingml/2006/main">
              <a:ext uri="{FF2B5EF4-FFF2-40B4-BE49-F238E27FC236}">
                <a16:creationId xmlns:a16="http://schemas.microsoft.com/office/drawing/2014/main" id="{DCA335AC-8B0E-404B-AA10-91FC559A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flow-label-1">
            <a:extLst xmlns:a="http://schemas.openxmlformats.org/drawingml/2006/main">
              <a:ext uri="{FF2B5EF4-FFF2-40B4-BE49-F238E27FC236}">
                <a16:creationId xmlns:a16="http://schemas.microsoft.com/office/drawing/2014/main" id="{4BD280C9-36C5-4406-9FA6-A6BB9FA1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43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02  PHÂN LOẠI</a:t>
            </a:r>
          </a:p>
        </p:txBody>
      </p:sp>
      <p:sp>
        <p:nvSpPr>
          <p:cNvPr id="16" name="problem-flow-body-1">
            <a:extLst xmlns:a="http://schemas.openxmlformats.org/drawingml/2006/main">
              <a:ext uri="{FF2B5EF4-FFF2-40B4-BE49-F238E27FC236}">
                <a16:creationId xmlns:a16="http://schemas.microsoft.com/office/drawing/2014/main" id="{12E7054A-F89B-4964-BA48-2DC08415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28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Hiểu ý định, dữ kiện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và trạng thái yêu cầu</a:t>
            </a:r>
          </a:p>
        </p:txBody>
      </p:sp>
      <p:sp>
        <p:nvSpPr>
          <p:cNvPr id="17" name="problem-flow-arrow-1">
            <a:extLst xmlns:a="http://schemas.openxmlformats.org/drawingml/2006/main">
              <a:ext uri="{FF2B5EF4-FFF2-40B4-BE49-F238E27FC236}">
                <a16:creationId xmlns:a16="http://schemas.microsoft.com/office/drawing/2014/main" id="{D97F080D-07D9-4138-9726-6D8B496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problem-flow-2">
            <a:extLst xmlns:a="http://schemas.openxmlformats.org/drawingml/2006/main">
              <a:ext uri="{FF2B5EF4-FFF2-40B4-BE49-F238E27FC236}">
                <a16:creationId xmlns:a16="http://schemas.microsoft.com/office/drawing/2014/main" id="{E82D63D5-A97C-4328-9108-61E8BDD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9" name="problem-flow-accent-2">
            <a:extLst xmlns:a="http://schemas.openxmlformats.org/drawingml/2006/main">
              <a:ext uri="{FF2B5EF4-FFF2-40B4-BE49-F238E27FC236}">
                <a16:creationId xmlns:a16="http://schemas.microsoft.com/office/drawing/2014/main" id="{3CD91A58-24A3-4B9C-A9BC-BE22EB09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flow-label-2">
            <a:extLst xmlns:a="http://schemas.openxmlformats.org/drawingml/2006/main">
              <a:ext uri="{FF2B5EF4-FFF2-40B4-BE49-F238E27FC236}">
                <a16:creationId xmlns:a16="http://schemas.microsoft.com/office/drawing/2014/main" id="{520334DF-5512-47C5-A310-DC420E82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03  ÁP QUY TẮC</a:t>
            </a:r>
          </a:p>
        </p:txBody>
      </p:sp>
      <p:sp>
        <p:nvSpPr>
          <p:cNvPr id="21" name="problem-flow-body-2">
            <a:extLst xmlns:a="http://schemas.openxmlformats.org/drawingml/2006/main">
              <a:ext uri="{FF2B5EF4-FFF2-40B4-BE49-F238E27FC236}">
                <a16:creationId xmlns:a16="http://schemas.microsoft.com/office/drawing/2014/main" id="{CDF7A450-A224-45ED-9128-47D3C9EF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Hướng dẫn, hỏi thêm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chuyển người</a:t>
            </a:r>
          </a:p>
        </p:txBody>
      </p:sp>
      <p:sp>
        <p:nvSpPr>
          <p:cNvPr id="22" name="problem-flow-arrow-2">
            <a:extLst xmlns:a="http://schemas.openxmlformats.org/drawingml/2006/main">
              <a:ext uri="{FF2B5EF4-FFF2-40B4-BE49-F238E27FC236}">
                <a16:creationId xmlns:a16="http://schemas.microsoft.com/office/drawing/2014/main" id="{8C1D14E6-AF78-4E49-94A2-D6D7C7CF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241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problem-flow-3">
            <a:extLst xmlns:a="http://schemas.openxmlformats.org/drawingml/2006/main">
              <a:ext uri="{FF2B5EF4-FFF2-40B4-BE49-F238E27FC236}">
                <a16:creationId xmlns:a16="http://schemas.microsoft.com/office/drawing/2014/main" id="{222F6082-5362-4D45-AC72-B880736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71675"/>
            <a:ext cx="25622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4" name="problem-flow-accent-3">
            <a:extLst xmlns:a="http://schemas.openxmlformats.org/drawingml/2006/main">
              <a:ext uri="{FF2B5EF4-FFF2-40B4-BE49-F238E27FC236}">
                <a16:creationId xmlns:a16="http://schemas.microsoft.com/office/drawing/2014/main" id="{7B6AF711-9BB3-439C-811B-0E7CADE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716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blem-flow-label-3">
            <a:extLst xmlns:a="http://schemas.openxmlformats.org/drawingml/2006/main">
              <a:ext uri="{FF2B5EF4-FFF2-40B4-BE49-F238E27FC236}">
                <a16:creationId xmlns:a16="http://schemas.microsoft.com/office/drawing/2014/main" id="{2E341BCF-FA8C-41B3-9BED-9EDC69FE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43125"/>
            <a:ext cx="2257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04  THEO DÕI</a:t>
            </a:r>
          </a:p>
        </p:txBody>
      </p:sp>
      <p:sp>
        <p:nvSpPr>
          <p:cNvPr id="26" name="problem-flow-body-3">
            <a:extLst xmlns:a="http://schemas.openxmlformats.org/drawingml/2006/main">
              <a:ext uri="{FF2B5EF4-FFF2-40B4-BE49-F238E27FC236}">
                <a16:creationId xmlns:a16="http://schemas.microsoft.com/office/drawing/2014/main" id="{835108C4-A8D6-429E-BF5E-C860A9DE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288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Người gửi và IT cần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hìn cùng một trạng thái</a:t>
            </a:r>
          </a:p>
        </p:txBody>
      </p:sp>
      <p:sp>
        <p:nvSpPr>
          <p:cNvPr id="27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B247C146-3EB1-40DA-B9EB-5D66A4F0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lem-gap-label">
            <a:extLst xmlns:a="http://schemas.openxmlformats.org/drawingml/2006/main">
              <a:ext uri="{FF2B5EF4-FFF2-40B4-BE49-F238E27FC236}">
                <a16:creationId xmlns:a16="http://schemas.microsoft.com/office/drawing/2014/main" id="{EDE668A9-02E4-45E1-8235-FCD919EB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KHOẢNG TRỐNG CẦN KHẮC PHỤC</a:t>
            </a:r>
          </a:p>
        </p:txBody>
      </p:sp>
      <p:sp>
        <p:nvSpPr>
          <p:cNvPr id="29" name="problem-gap-headline">
            <a:extLst xmlns:a="http://schemas.openxmlformats.org/drawingml/2006/main">
              <a:ext uri="{FF2B5EF4-FFF2-40B4-BE49-F238E27FC236}">
                <a16:creationId xmlns:a16="http://schemas.microsoft.com/office/drawing/2014/main" id="{89131A0F-6717-4146-B258-E8127CF4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686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85"/>
          </a:bodyPr>
          <a:lstStyle xmlns:a="http://schemas.openxmlformats.org/drawingml/2006/main">
            <a:def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Khi ý định đổi hoặc sự cố quay lại, hệ thống có thể giữ trạng thái cũ.</a:t>
            </a:r>
          </a:p>
        </p:txBody>
      </p:sp>
      <p:sp>
        <p:nvSpPr>
          <p:cNvPr id="30" name="problem-gap-body">
            <a:extLst xmlns:a="http://schemas.openxmlformats.org/drawingml/2006/main">
              <a:ext uri="{FF2B5EF4-FFF2-40B4-BE49-F238E27FC236}">
                <a16:creationId xmlns:a16="http://schemas.microsoft.com/office/drawing/2014/main" id="{C25BEFD1-A79B-46D3-86A6-0DFA03AE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68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646C"/>
                </a:solidFill>
                <a:latin typeface="Arial"/>
                <a:ea typeface="Arial"/>
                <a:cs typeface="Arial"/>
              </a:rPr>
              <a:t>Trạng thái hội thoại, lựa chọn trên form và mã policy phải nhất quán trước khi kết luận hay bàn giao.</a:t>
            </a:r>
          </a:p>
        </p:txBody>
      </p:sp>
      <p:sp>
        <p:nvSpPr>
          <p:cNvPr id="31" name="gap-num-0">
            <a:extLst xmlns:a="http://schemas.openxmlformats.org/drawingml/2006/main">
              <a:ext uri="{FF2B5EF4-FFF2-40B4-BE49-F238E27FC236}">
                <a16:creationId xmlns:a16="http://schemas.microsoft.com/office/drawing/2014/main" id="{8DAD9D1F-D077-4BD2-9BD3-AA1D5627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gap-text-0">
            <a:extLst xmlns:a="http://schemas.openxmlformats.org/drawingml/2006/main">
              <a:ext uri="{FF2B5EF4-FFF2-40B4-BE49-F238E27FC236}">
                <a16:creationId xmlns:a16="http://schemas.microsoft.com/office/drawing/2014/main" id="{14B5D95C-93B8-4AFF-92E5-0A870926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2427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124"/>
                </a:solidFill>
                <a:latin typeface="Arial"/>
                <a:ea typeface="Arial"/>
                <a:cs typeface="Arial"/>
              </a:rPr>
              <a:t>Sự cố mạng tái diễn nhưng câu “vào lại được” có thể bị hiểu là đã xong.</a:t>
            </a:r>
          </a:p>
        </p:txBody>
      </p:sp>
      <p:sp>
        <p:nvSpPr>
          <p:cNvPr id="33" name="gap-rule-0">
            <a:extLst xmlns:a="http://schemas.openxmlformats.org/drawingml/2006/main">
              <a:ext uri="{FF2B5EF4-FFF2-40B4-BE49-F238E27FC236}">
                <a16:creationId xmlns:a16="http://schemas.microsoft.com/office/drawing/2014/main" id="{1DCBA0C4-69EB-4BEE-B87E-0AF35833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148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ap-num-1">
            <a:extLst xmlns:a="http://schemas.openxmlformats.org/drawingml/2006/main">
              <a:ext uri="{FF2B5EF4-FFF2-40B4-BE49-F238E27FC236}">
                <a16:creationId xmlns:a16="http://schemas.microsoft.com/office/drawing/2014/main" id="{72113E87-8C26-4E6A-9058-6935BF4A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38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5" name="gap-text-1">
            <a:extLst xmlns:a="http://schemas.openxmlformats.org/drawingml/2006/main">
              <a:ext uri="{FF2B5EF4-FFF2-40B4-BE49-F238E27FC236}">
                <a16:creationId xmlns:a16="http://schemas.microsoft.com/office/drawing/2014/main" id="{6CE640EE-F6D1-4160-B4F6-ABCF082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4817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Đổi nhóm hỗ trợ nhưng loại yêu cầu cũ có thể còn trong form.</a:t>
            </a:r>
          </a:p>
        </p:txBody>
      </p:sp>
      <p:sp>
        <p:nvSpPr>
          <p:cNvPr id="36" name="gap-rule-1">
            <a:extLst xmlns:a="http://schemas.openxmlformats.org/drawingml/2006/main">
              <a:ext uri="{FF2B5EF4-FFF2-40B4-BE49-F238E27FC236}">
                <a16:creationId xmlns:a16="http://schemas.microsoft.com/office/drawing/2014/main" id="{044EA4D0-3AA4-42D6-8314-09A8808E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3872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ap-num-2">
            <a:extLst xmlns:a="http://schemas.openxmlformats.org/drawingml/2006/main">
              <a:ext uri="{FF2B5EF4-FFF2-40B4-BE49-F238E27FC236}">
                <a16:creationId xmlns:a16="http://schemas.microsoft.com/office/drawing/2014/main" id="{06EA9E95-C5E6-48B7-93FD-0356AD71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625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8" name="gap-text-2">
            <a:extLst xmlns:a="http://schemas.openxmlformats.org/drawingml/2006/main">
              <a:ext uri="{FF2B5EF4-FFF2-40B4-BE49-F238E27FC236}">
                <a16:creationId xmlns:a16="http://schemas.microsoft.com/office/drawing/2014/main" id="{1B977384-036D-4C43-AC11-EC34BCF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7207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124"/>
                </a:solidFill>
                <a:latin typeface="Arial"/>
                <a:ea typeface="Arial"/>
                <a:cs typeface="Arial"/>
              </a:rPr>
              <a:t>Hai rule bảo mật cùng mã làm người đọc khó phân biệt audit.</a:t>
            </a:r>
          </a:p>
        </p:txBody>
      </p:sp>
      <p:sp>
        <p:nvSpPr>
          <p:cNvPr id="39" name="problem-source">
            <a:extLst xmlns:a="http://schemas.openxmlformats.org/drawingml/2006/main">
              <a:ext uri="{FF2B5EF4-FFF2-40B4-BE49-F238E27FC236}">
                <a16:creationId xmlns:a16="http://schemas.microsoft.com/office/drawing/2014/main" id="{45A11612-AD43-45AE-B6A0-EEE9C6CF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9055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i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i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60646C"/>
                </a:solidFill>
                <a:latin typeface="Arial"/>
                <a:ea typeface="Arial"/>
                <a:cs typeface="Arial"/>
              </a:rPr>
              <a:t>Cơ sở: 3 phản ánh tester ghi nhận ngày 13.10.2026; không phải mẫu đo workload.</a:t>
            </a:r>
          </a:p>
        </p:txBody>
      </p:sp>
    </p:spTree>
    <p:extLst>
      <p:ext uri="{BB962C8B-B14F-4D97-AF65-F5344CB8AC3E}">
        <p14:creationId xmlns:p14="http://schemas.microsoft.com/office/powerpoint/2010/main" val="2114653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accent-2">
            <a:extLst xmlns:a="http://schemas.openxmlformats.org/drawingml/2006/main">
              <a:ext uri="{FF2B5EF4-FFF2-40B4-BE49-F238E27FC236}">
                <a16:creationId xmlns:a16="http://schemas.microsoft.com/office/drawing/2014/main" id="{3464C65E-8BEA-4246-BAD0-AB89171A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F4057ADA-6C53-41C8-88C8-B41688EA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E8382306-02F5-4F71-BF5A-ADC33B1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Luồng xử lý và điểm con người quyết định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D9DA6B70-A8A7-4D3D-AC2B-CDC1E46C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Model trích xuất thông tin; policy xác định hành động; con người giữ quyền phê duyệt và can thiệp.</a:t>
            </a:r>
          </a:p>
        </p:txBody>
      </p:sp>
      <p:sp>
        <p:nvSpPr>
          <p:cNvPr id="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A3E5DED-802B-4A4D-96FE-196E7A3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238431CC-3A16-40F1-9644-D1676950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main @ e5bae44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E9A38229-0082-44D7-8918-0EEA2139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  <p:sp>
        <p:nvSpPr>
          <p:cNvPr id="8" name="step-box-0">
            <a:extLst xmlns:a="http://schemas.openxmlformats.org/drawingml/2006/main">
              <a:ext uri="{FF2B5EF4-FFF2-40B4-BE49-F238E27FC236}">
                <a16:creationId xmlns:a16="http://schemas.microsoft.com/office/drawing/2014/main" id="{92CEA638-F913-4AE5-9B56-9731CBB4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9" name="step-mark-0">
            <a:extLst xmlns:a="http://schemas.openxmlformats.org/drawingml/2006/main">
              <a:ext uri="{FF2B5EF4-FFF2-40B4-BE49-F238E27FC236}">
                <a16:creationId xmlns:a16="http://schemas.microsoft.com/office/drawing/2014/main" id="{14302BC1-2156-4D1E-921F-A55611C9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757BE4EC-B684-4253-A4B8-18769813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01  ĐẦU VÀO</a:t>
            </a:r>
          </a:p>
        </p:txBody>
      </p:sp>
      <p:sp>
        <p:nvSpPr>
          <p:cNvPr id="11" name="step-copy-0">
            <a:extLst xmlns:a="http://schemas.openxmlformats.org/drawingml/2006/main">
              <a:ext uri="{FF2B5EF4-FFF2-40B4-BE49-F238E27FC236}">
                <a16:creationId xmlns:a16="http://schemas.microsoft.com/office/drawing/2014/main" id="{5F4E0DA0-4C64-4DBF-8110-6CA45D7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Mô tả tự do hoặc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danh mục hỗ trợ</a:t>
            </a:r>
          </a:p>
        </p:txBody>
      </p:sp>
      <p:sp>
        <p:nvSpPr>
          <p:cNvPr id="12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833B1126-5B60-4C68-BFD2-7A9B4074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step-box-1">
            <a:extLst xmlns:a="http://schemas.openxmlformats.org/drawingml/2006/main">
              <a:ext uri="{FF2B5EF4-FFF2-40B4-BE49-F238E27FC236}">
                <a16:creationId xmlns:a16="http://schemas.microsoft.com/office/drawing/2014/main" id="{F3736B4D-577D-46A1-8657-05350A4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4" name="step-mark-1">
            <a:extLst xmlns:a="http://schemas.openxmlformats.org/drawingml/2006/main">
              <a:ext uri="{FF2B5EF4-FFF2-40B4-BE49-F238E27FC236}">
                <a16:creationId xmlns:a16="http://schemas.microsoft.com/office/drawing/2014/main" id="{DC484AFE-13F8-4F33-8E3A-CF2A24E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5785DD9-A243-47D9-A110-C93BDCF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02  KIỂM TRA</a:t>
            </a:r>
          </a:p>
        </p:txBody>
      </p:sp>
      <p:sp>
        <p:nvSpPr>
          <p:cNvPr id="16" name="step-copy-1">
            <a:extLst xmlns:a="http://schemas.openxmlformats.org/drawingml/2006/main">
              <a:ext uri="{FF2B5EF4-FFF2-40B4-BE49-F238E27FC236}">
                <a16:creationId xmlns:a16="http://schemas.microsoft.com/office/drawing/2014/main" id="{593A14E8-A579-4EF2-AA53-683A76D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Validate dữ liệu;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che một số định danh</a:t>
            </a:r>
          </a:p>
        </p:txBody>
      </p:sp>
      <p:sp>
        <p:nvSpPr>
          <p:cNvPr id="1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E518C4C6-B740-443C-8634-3DA1CCD6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tep-box-2">
            <a:extLst xmlns:a="http://schemas.openxmlformats.org/drawingml/2006/main">
              <a:ext uri="{FF2B5EF4-FFF2-40B4-BE49-F238E27FC236}">
                <a16:creationId xmlns:a16="http://schemas.microsoft.com/office/drawing/2014/main" id="{B3B30DA8-54B9-4E68-815A-8FDD2F60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9" name="step-mark-2">
            <a:extLst xmlns:a="http://schemas.openxmlformats.org/drawingml/2006/main">
              <a:ext uri="{FF2B5EF4-FFF2-40B4-BE49-F238E27FC236}">
                <a16:creationId xmlns:a16="http://schemas.microsoft.com/office/drawing/2014/main" id="{94D130E3-722F-46A4-8761-5B4C6D26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629FEA1-185F-4724-B9C6-4F32D69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03  TRÍCH XUẤT</a:t>
            </a:r>
          </a:p>
        </p:txBody>
      </p:sp>
      <p:sp>
        <p:nvSpPr>
          <p:cNvPr id="21" name="step-copy-2">
            <a:extLst xmlns:a="http://schemas.openxmlformats.org/drawingml/2006/main">
              <a:ext uri="{FF2B5EF4-FFF2-40B4-BE49-F238E27FC236}">
                <a16:creationId xmlns:a16="http://schemas.microsoft.com/office/drawing/2014/main" id="{BEA65592-EAC4-4433-847A-F06E5C0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Model đề xuất ý định,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dữ kiện và bằng chứng</a:t>
            </a:r>
          </a:p>
        </p:txBody>
      </p:sp>
      <p:sp>
        <p:nvSpPr>
          <p:cNvPr id="22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24E79C9C-133A-41A1-A535-9F956DCD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step-box-3">
            <a:extLst xmlns:a="http://schemas.openxmlformats.org/drawingml/2006/main">
              <a:ext uri="{FF2B5EF4-FFF2-40B4-BE49-F238E27FC236}">
                <a16:creationId xmlns:a16="http://schemas.microsoft.com/office/drawing/2014/main" id="{2383DDBB-F4A7-4F1B-9558-6DF09B5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4" name="step-mark-3">
            <a:extLst xmlns:a="http://schemas.openxmlformats.org/drawingml/2006/main">
              <a:ext uri="{FF2B5EF4-FFF2-40B4-BE49-F238E27FC236}">
                <a16:creationId xmlns:a16="http://schemas.microsoft.com/office/drawing/2014/main" id="{29C31DB5-61F8-4BCD-8710-4A679809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C3ADB785-D102-4236-9B90-CCD1623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04  ÁP POLICY</a:t>
            </a:r>
          </a:p>
        </p:txBody>
      </p:sp>
      <p:sp>
        <p:nvSpPr>
          <p:cNvPr id="26" name="step-copy-3">
            <a:extLst xmlns:a="http://schemas.openxmlformats.org/drawingml/2006/main">
              <a:ext uri="{FF2B5EF4-FFF2-40B4-BE49-F238E27FC236}">
                <a16:creationId xmlns:a16="http://schemas.microsoft.com/office/drawing/2014/main" id="{8C3450E7-F36F-4702-BCD3-89CEBE8B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Rule tất định kiểm tra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rủi ro và thẩm quyền</a:t>
            </a:r>
          </a:p>
        </p:txBody>
      </p:sp>
      <p:sp>
        <p:nvSpPr>
          <p:cNvPr id="27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0E62103B-FBCC-4878-94E2-719D94FF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57475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>
            <a:def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step-box-4">
            <a:extLst xmlns:a="http://schemas.openxmlformats.org/drawingml/2006/main">
              <a:ext uri="{FF2B5EF4-FFF2-40B4-BE49-F238E27FC236}">
                <a16:creationId xmlns:a16="http://schemas.microsoft.com/office/drawing/2014/main" id="{52F76634-8C2C-4FAF-BA16-A6C67B6F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17907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9" name="step-mark-4">
            <a:extLst xmlns:a="http://schemas.openxmlformats.org/drawingml/2006/main">
              <a:ext uri="{FF2B5EF4-FFF2-40B4-BE49-F238E27FC236}">
                <a16:creationId xmlns:a16="http://schemas.microsoft.com/office/drawing/2014/main" id="{C0B207A0-9CA7-4C75-8D97-F7242B16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085B1778-3367-46E8-8F24-017FA9CA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764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05  ĐẦU RA</a:t>
            </a:r>
          </a:p>
        </p:txBody>
      </p:sp>
      <p:sp>
        <p:nvSpPr>
          <p:cNvPr id="31" name="step-copy-4">
            <a:extLst xmlns:a="http://schemas.openxmlformats.org/drawingml/2006/main">
              <a:ext uri="{FF2B5EF4-FFF2-40B4-BE49-F238E27FC236}">
                <a16:creationId xmlns:a16="http://schemas.microsoft.com/office/drawing/2014/main" id="{C10A2B4B-2731-4519-B99C-26F3C136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38425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42"/>
          </a:bodyPr>
          <a:lstStyle xmlns:a="http://schemas.openxmlformats.org/drawingml/2006/main">
            <a:def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Hướng dẫn, hỏi rõ</a:t>
            </a:r>
          </a:p>
          <a:p xmlns:a="http://schemas.openxmlformats.org/drawingml/2006/main">
            <a:pPr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chuyển người</a:t>
            </a:r>
          </a:p>
        </p:txBody>
      </p:sp>
      <p:sp>
        <p:nvSpPr>
          <p:cNvPr id="32" name="model-boundary">
            <a:extLst xmlns:a="http://schemas.openxmlformats.org/drawingml/2006/main">
              <a:ext uri="{FF2B5EF4-FFF2-40B4-BE49-F238E27FC236}">
                <a16:creationId xmlns:a16="http://schemas.microsoft.com/office/drawing/2014/main" id="{8EECD969-BFEE-47B6-AF4C-4E391C97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Model không xác minh phê duyệt và không tự cấp quyền.</a:t>
            </a:r>
          </a:p>
        </p:txBody>
      </p:sp>
      <p:sp>
        <p:nvSpPr>
          <p:cNvPr id="33" name="human-audit-divider">
            <a:extLst xmlns:a="http://schemas.openxmlformats.org/drawingml/2006/main">
              <a:ext uri="{FF2B5EF4-FFF2-40B4-BE49-F238E27FC236}">
                <a16:creationId xmlns:a16="http://schemas.microsoft.com/office/drawing/2014/main" id="{453782CF-AB7D-430B-95C1-6778EAF0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man-label">
            <a:extLst xmlns:a="http://schemas.openxmlformats.org/drawingml/2006/main">
              <a:ext uri="{FF2B5EF4-FFF2-40B4-BE49-F238E27FC236}">
                <a16:creationId xmlns:a16="http://schemas.microsoft.com/office/drawing/2014/main" id="{9483D45A-4894-4C96-800E-0F12DDA6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CON NGƯỜI GIỮ QUYỀN QUYẾT ĐỊNH</a:t>
            </a:r>
          </a:p>
        </p:txBody>
      </p:sp>
      <p:sp>
        <p:nvSpPr>
          <p:cNvPr id="35" name="human-copy">
            <a:extLst xmlns:a="http://schemas.openxmlformats.org/drawingml/2006/main">
              <a:ext uri="{FF2B5EF4-FFF2-40B4-BE49-F238E27FC236}">
                <a16:creationId xmlns:a16="http://schemas.microsoft.com/office/drawing/2014/main" id="{6C8F442C-126E-446E-B431-512B4483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5257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124"/>
                </a:solidFill>
                <a:latin typeface="Arial"/>
                <a:ea typeface="Arial"/>
                <a:cs typeface="Arial"/>
              </a:rPr>
              <a:t>Người gửi xác nhận trước khi tạo hồ sơ. Reviewer có thể hỏi thêm, approve/reject, Stop hoặc override kèm lý do.</a:t>
            </a:r>
          </a:p>
        </p:txBody>
      </p:sp>
      <p:sp>
        <p:nvSpPr>
          <p:cNvPr id="36" name="human-stop-limit">
            <a:extLst xmlns:a="http://schemas.openxmlformats.org/drawingml/2006/main">
              <a:ext uri="{FF2B5EF4-FFF2-40B4-BE49-F238E27FC236}">
                <a16:creationId xmlns:a16="http://schemas.microsoft.com/office/drawing/2014/main" id="{DE97ED47-A07A-4B01-BB40-BDF79BD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0646C"/>
                </a:solidFill>
                <a:latin typeface="Arial"/>
                <a:ea typeface="Arial"/>
                <a:cs typeface="Arial"/>
              </a:rPr>
              <a:t>Stop/Override dừng luồng trong app; không hoàn tác hạ tầng bên ngoài.</a:t>
            </a:r>
          </a:p>
        </p:txBody>
      </p:sp>
      <p:sp>
        <p:nvSpPr>
          <p:cNvPr id="37" name="audit-left-rule">
            <a:extLst xmlns:a="http://schemas.openxmlformats.org/drawingml/2006/main">
              <a:ext uri="{FF2B5EF4-FFF2-40B4-BE49-F238E27FC236}">
                <a16:creationId xmlns:a16="http://schemas.microsoft.com/office/drawing/2014/main" id="{072C04E8-ECEA-462D-9634-73AEC7FD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5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udit-label">
            <a:extLst xmlns:a="http://schemas.openxmlformats.org/drawingml/2006/main">
              <a:ext uri="{FF2B5EF4-FFF2-40B4-BE49-F238E27FC236}">
                <a16:creationId xmlns:a16="http://schemas.microsoft.com/office/drawing/2014/main" id="{6324B165-072B-4434-A605-AE2FAE5A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NHẬT KÝ KIỂM TOÁN</a:t>
            </a:r>
          </a:p>
        </p:txBody>
      </p:sp>
      <p:sp>
        <p:nvSpPr>
          <p:cNvPr id="39" name="audit-copy">
            <a:extLst xmlns:a="http://schemas.openxmlformats.org/drawingml/2006/main">
              <a:ext uri="{FF2B5EF4-FFF2-40B4-BE49-F238E27FC236}">
                <a16:creationId xmlns:a16="http://schemas.microsoft.com/office/drawing/2014/main" id="{8BC46C90-E605-469D-9C6E-4570713B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95825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124"/>
                </a:solidFill>
                <a:latin typeface="Arial"/>
                <a:ea typeface="Arial"/>
                <a:cs typeface="Arial"/>
              </a:rPr>
              <a:t>Ghi ai làm gì, lúc nào, theo rule nào, dựa trên bằng chứng nào và trạng thái sau xử lý.</a:t>
            </a:r>
          </a:p>
        </p:txBody>
      </p:sp>
      <p:sp>
        <p:nvSpPr>
          <p:cNvPr id="40" name="audit-fields">
            <a:extLst xmlns:a="http://schemas.openxmlformats.org/drawingml/2006/main">
              <a:ext uri="{FF2B5EF4-FFF2-40B4-BE49-F238E27FC236}">
                <a16:creationId xmlns:a16="http://schemas.microsoft.com/office/drawing/2014/main" id="{37DEA050-FB6A-420D-AE0F-1C6B1D82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Actor  ·  Thời điểm  ·  Rule  ·  Evidence  ·  Lý do  ·  State</a:t>
            </a:r>
          </a:p>
        </p:txBody>
      </p:sp>
    </p:spTree>
    <p:extLst>
      <p:ext uri="{BB962C8B-B14F-4D97-AF65-F5344CB8AC3E}">
        <p14:creationId xmlns:p14="http://schemas.microsoft.com/office/powerpoint/2010/main" val="260166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accent-3">
            <a:extLst xmlns:a="http://schemas.openxmlformats.org/drawingml/2006/main">
              <a:ext uri="{FF2B5EF4-FFF2-40B4-BE49-F238E27FC236}">
                <a16:creationId xmlns:a16="http://schemas.microsoft.com/office/drawing/2014/main" id="{BF80324F-B22B-408F-9C67-F9013BE3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8462F387-8775-4A58-8CDC-57245CE8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760F420E-E211-41C8-B0CA-352E96B2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Ba phản hồi thực tế, ba sửa đổi có kiểm thử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F4EA208C-0D84-46B9-B645-93177EF5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Đối chiếu hành vi trước/sau từ các lỗi được báo; chưa quy đổi thành thời gian tiết kiệm hay năng suất.</a:t>
            </a:r>
          </a:p>
        </p:txBody>
      </p:sp>
      <p:sp>
        <p:nvSpPr>
          <p:cNvPr id="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4BE92EAE-A92D-4987-A57B-23876FA3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754871A8-F116-4356-B0F1-C74A786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main @ e5bae44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8F44A6CC-00FC-4E05-95F6-CD1B51A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  <p:sp>
        <p:nvSpPr>
          <p:cNvPr id="8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35DD8735-D0D3-4384-8B67-353581B1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NGƯỜI DÙNG / VIỆC LÀM</a:t>
            </a:r>
          </a:p>
        </p:txBody>
      </p:sp>
      <p:sp>
        <p:nvSpPr>
          <p:cNvPr id="9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7E3E8438-1F3A-4611-A099-1BBBC087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TRƯỚC SỬA</a:t>
            </a:r>
          </a:p>
        </p:txBody>
      </p:sp>
      <p:sp>
        <p:nvSpPr>
          <p:cNvPr id="10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8F48435B-E2B0-4A6E-A09E-EA74E91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SAU SỬA</a:t>
            </a:r>
          </a:p>
        </p:txBody>
      </p:sp>
      <p:sp>
        <p:nvSpPr>
          <p:cNvPr id="11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551967A7-3595-4B63-8CB1-59FD5EEA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KIỂM TRA HỒI QUY</a:t>
            </a:r>
          </a:p>
        </p:txBody>
      </p:sp>
      <p:sp>
        <p:nvSpPr>
          <p:cNvPr id="12" name="table-head-rule">
            <a:extLst xmlns:a="http://schemas.openxmlformats.org/drawingml/2006/main">
              <a:ext uri="{FF2B5EF4-FFF2-40B4-BE49-F238E27FC236}">
                <a16:creationId xmlns:a16="http://schemas.microsoft.com/office/drawing/2014/main" id="{A05F9A32-02F0-421B-B18F-25F63D3F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tag-0">
            <a:extLst xmlns:a="http://schemas.openxmlformats.org/drawingml/2006/main">
              <a:ext uri="{FF2B5EF4-FFF2-40B4-BE49-F238E27FC236}">
                <a16:creationId xmlns:a16="http://schemas.microsoft.com/office/drawing/2014/main" id="{2D596342-D1A1-4739-B37E-6F80B794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UT-01  ·  CHAT</a:t>
            </a:r>
          </a:p>
        </p:txBody>
      </p:sp>
      <p:sp>
        <p:nvSpPr>
          <p:cNvPr id="14" name="row-task-0">
            <a:extLst xmlns:a="http://schemas.openxmlformats.org/drawingml/2006/main">
              <a:ext uri="{FF2B5EF4-FFF2-40B4-BE49-F238E27FC236}">
                <a16:creationId xmlns:a16="http://schemas.microsoft.com/office/drawing/2014/main" id="{39F57F62-703E-4418-BE05-53AFE7D6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02124"/>
                </a:solidFill>
                <a:latin typeface="Arial"/>
                <a:ea typeface="Arial"/>
                <a:cs typeface="Arial"/>
              </a:rPr>
              <a:t>Báo mạng vừa kết nối lại nhưng lại rớt.</a:t>
            </a:r>
          </a:p>
        </p:txBody>
      </p:sp>
      <p:sp>
        <p:nvSpPr>
          <p:cNvPr id="15" name="row-before-0">
            <a:extLst xmlns:a="http://schemas.openxmlformats.org/drawingml/2006/main">
              <a:ext uri="{FF2B5EF4-FFF2-40B4-BE49-F238E27FC236}">
                <a16:creationId xmlns:a16="http://schemas.microsoft.com/office/drawing/2014/main" id="{19C62F82-6A5A-4200-9315-8D4D0AEC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098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“Vào lại được” có thể bị hiểu là đã xử lý xong.</a:t>
            </a:r>
          </a:p>
        </p:txBody>
      </p:sp>
      <p:sp>
        <p:nvSpPr>
          <p:cNvPr id="16" name="row-after-0">
            <a:extLst xmlns:a="http://schemas.openxmlformats.org/drawingml/2006/main">
              <a:ext uri="{FF2B5EF4-FFF2-40B4-BE49-F238E27FC236}">
                <a16:creationId xmlns:a16="http://schemas.microsoft.com/office/drawing/2014/main" id="{686EF2A8-2430-4184-A2EC-268CBDB7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09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Dấu hiệu tái diễn chặn RESOLVED; hội thoại tiếp tục mở.</a:t>
            </a:r>
          </a:p>
        </p:txBody>
      </p:sp>
      <p:sp>
        <p:nvSpPr>
          <p:cNvPr id="17" name="row-check-0">
            <a:extLst xmlns:a="http://schemas.openxmlformats.org/drawingml/2006/main">
              <a:ext uri="{FF2B5EF4-FFF2-40B4-BE49-F238E27FC236}">
                <a16:creationId xmlns:a16="http://schemas.microsoft.com/office/drawing/2014/main" id="{98FD576D-66CB-41B7-B757-43C7F64E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Unit regression</a:t>
            </a:r>
          </a:p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sentiment</a:t>
            </a:r>
          </a:p>
        </p:txBody>
      </p:sp>
      <p:sp>
        <p:nvSpPr>
          <p:cNvPr id="18" name="row-rule-0">
            <a:extLst xmlns:a="http://schemas.openxmlformats.org/drawingml/2006/main">
              <a:ext uri="{FF2B5EF4-FFF2-40B4-BE49-F238E27FC236}">
                <a16:creationId xmlns:a16="http://schemas.microsoft.com/office/drawing/2014/main" id="{A8E5B520-4BF9-4623-BC42-119735E5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w-tag-1">
            <a:extLst xmlns:a="http://schemas.openxmlformats.org/drawingml/2006/main">
              <a:ext uri="{FF2B5EF4-FFF2-40B4-BE49-F238E27FC236}">
                <a16:creationId xmlns:a16="http://schemas.microsoft.com/office/drawing/2014/main" id="{07A15D40-B111-4B85-B04B-754A073E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UT-02  ·  FORM</a:t>
            </a:r>
          </a:p>
        </p:txBody>
      </p:sp>
      <p:sp>
        <p:nvSpPr>
          <p:cNvPr id="20" name="row-task-1">
            <a:extLst xmlns:a="http://schemas.openxmlformats.org/drawingml/2006/main">
              <a:ext uri="{FF2B5EF4-FFF2-40B4-BE49-F238E27FC236}">
                <a16:creationId xmlns:a16="http://schemas.microsoft.com/office/drawing/2014/main" id="{0F1B2CF5-F517-41EB-A25C-70CE8AD0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Đổi nhóm cấp quyền sang sự cố VPN.</a:t>
            </a:r>
          </a:p>
        </p:txBody>
      </p:sp>
      <p:sp>
        <p:nvSpPr>
          <p:cNvPr id="21" name="row-before-1">
            <a:extLst xmlns:a="http://schemas.openxmlformats.org/drawingml/2006/main">
              <a:ext uri="{FF2B5EF4-FFF2-40B4-BE49-F238E27FC236}">
                <a16:creationId xmlns:a16="http://schemas.microsoft.com/office/drawing/2014/main" id="{3D64C904-1C8B-4823-ABFD-A47B14C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ACCESS_REQUEST cũ còn lưu và có thể đẩy sai tuyến.</a:t>
            </a:r>
          </a:p>
        </p:txBody>
      </p:sp>
      <p:sp>
        <p:nvSpPr>
          <p:cNvPr id="22" name="row-after-1">
            <a:extLst xmlns:a="http://schemas.openxmlformats.org/drawingml/2006/main">
              <a:ext uri="{FF2B5EF4-FFF2-40B4-BE49-F238E27FC236}">
                <a16:creationId xmlns:a16="http://schemas.microsoft.com/office/drawing/2014/main" id="{7D43FC70-C7DB-4403-936C-72EBAF21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3009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Đổi nhóm xóa requestKind; người gửi chọn loại mới.</a:t>
            </a:r>
          </a:p>
        </p:txBody>
      </p:sp>
      <p:sp>
        <p:nvSpPr>
          <p:cNvPr id="23" name="row-check-1">
            <a:extLst xmlns:a="http://schemas.openxmlformats.org/drawingml/2006/main">
              <a:ext uri="{FF2B5EF4-FFF2-40B4-BE49-F238E27FC236}">
                <a16:creationId xmlns:a16="http://schemas.microsoft.com/office/drawing/2014/main" id="{61ACD15F-545F-4207-AF10-60F2C1FF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Playwright E2E</a:t>
            </a:r>
          </a:p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form + submit</a:t>
            </a:r>
          </a:p>
        </p:txBody>
      </p:sp>
      <p:sp>
        <p:nvSpPr>
          <p:cNvPr id="24" name="row-rule-1">
            <a:extLst xmlns:a="http://schemas.openxmlformats.org/drawingml/2006/main">
              <a:ext uri="{FF2B5EF4-FFF2-40B4-BE49-F238E27FC236}">
                <a16:creationId xmlns:a16="http://schemas.microsoft.com/office/drawing/2014/main" id="{CD6B2ABF-5D7D-4BEF-BA50-C2D9BF66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ow-tag-2">
            <a:extLst xmlns:a="http://schemas.openxmlformats.org/drawingml/2006/main">
              <a:ext uri="{FF2B5EF4-FFF2-40B4-BE49-F238E27FC236}">
                <a16:creationId xmlns:a16="http://schemas.microsoft.com/office/drawing/2014/main" id="{A38C8B10-0C52-480E-B1C7-CD53D383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UT-03  ·  AUDIT</a:t>
            </a:r>
          </a:p>
        </p:txBody>
      </p:sp>
      <p:sp>
        <p:nvSpPr>
          <p:cNvPr id="26" name="row-task-2">
            <a:extLst xmlns:a="http://schemas.openxmlformats.org/drawingml/2006/main">
              <a:ext uri="{FF2B5EF4-FFF2-40B4-BE49-F238E27FC236}">
                <a16:creationId xmlns:a16="http://schemas.microsoft.com/office/drawing/2014/main" id="{1A243284-F3F9-41A8-B273-3C4061AB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762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Đối chiếu rule trong policy và audit.</a:t>
            </a:r>
          </a:p>
        </p:txBody>
      </p:sp>
      <p:sp>
        <p:nvSpPr>
          <p:cNvPr id="27" name="row-before-2">
            <a:extLst xmlns:a="http://schemas.openxmlformats.org/drawingml/2006/main">
              <a:ext uri="{FF2B5EF4-FFF2-40B4-BE49-F238E27FC236}">
                <a16:creationId xmlns:a16="http://schemas.microsoft.com/office/drawing/2014/main" id="{2EA8CE84-B942-4F0A-96AD-8E44CB20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005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PUBLIC_EXPOSURE và SECURITY_CONTROL cùng mã SEC-002.</a:t>
            </a:r>
          </a:p>
        </p:txBody>
      </p:sp>
      <p:sp>
        <p:nvSpPr>
          <p:cNvPr id="28" name="row-after-2">
            <a:extLst xmlns:a="http://schemas.openxmlformats.org/drawingml/2006/main">
              <a:ext uri="{FF2B5EF4-FFF2-40B4-BE49-F238E27FC236}">
                <a16:creationId xmlns:a16="http://schemas.microsoft.com/office/drawing/2014/main" id="{C74CEB3F-5704-4CD4-9EF5-BACF3FC6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30099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SECURITY_CONTROL dùng SEC-008; ID rule phải duy nhất.</a:t>
            </a:r>
          </a:p>
        </p:txBody>
      </p:sp>
      <p:sp>
        <p:nvSpPr>
          <p:cNvPr id="29" name="row-check-2">
            <a:extLst xmlns:a="http://schemas.openxmlformats.org/drawingml/2006/main">
              <a:ext uri="{FF2B5EF4-FFF2-40B4-BE49-F238E27FC236}">
                <a16:creationId xmlns:a16="http://schemas.microsoft.com/office/drawing/2014/main" id="{3133D379-E968-4AE8-A38F-A04A016F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Policy contract</a:t>
            </a:r>
          </a:p>
          <a:p xmlns:a="http://schemas.openxmlformats.org/drawingml/2006/main">
            <a:pPr>
              <a:defRPr sz="1125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unique IDs</a:t>
            </a:r>
          </a:p>
        </p:txBody>
      </p:sp>
      <p:sp>
        <p:nvSpPr>
          <p:cNvPr id="30" name="measure-band">
            <a:extLst xmlns:a="http://schemas.openxmlformats.org/drawingml/2006/main">
              <a:ext uri="{FF2B5EF4-FFF2-40B4-BE49-F238E27FC236}">
                <a16:creationId xmlns:a16="http://schemas.microsoft.com/office/drawing/2014/main" id="{24207F0E-4B9A-4C16-80BB-4D630BB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asure-band-accent">
            <a:extLst xmlns:a="http://schemas.openxmlformats.org/drawingml/2006/main">
              <a:ext uri="{FF2B5EF4-FFF2-40B4-BE49-F238E27FC236}">
                <a16:creationId xmlns:a16="http://schemas.microsoft.com/office/drawing/2014/main" id="{CC2255CD-EE5C-4206-9195-36B5D6C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easure-label">
            <a:extLst xmlns:a="http://schemas.openxmlformats.org/drawingml/2006/main">
              <a:ext uri="{FF2B5EF4-FFF2-40B4-BE49-F238E27FC236}">
                <a16:creationId xmlns:a16="http://schemas.microsoft.com/office/drawing/2014/main" id="{75F02304-AB4C-4F58-95FB-A826E43D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3872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CÁCH ĐO</a:t>
            </a:r>
          </a:p>
        </p:txBody>
      </p:sp>
      <p:sp>
        <p:nvSpPr>
          <p:cNvPr id="33" name="measure-copy">
            <a:extLst xmlns:a="http://schemas.openxmlformats.org/drawingml/2006/main">
              <a:ext uri="{FF2B5EF4-FFF2-40B4-BE49-F238E27FC236}">
                <a16:creationId xmlns:a16="http://schemas.microsoft.com/office/drawing/2014/main" id="{0BD56CFD-4465-4817-B1BA-9701D547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600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124"/>
                </a:solidFill>
                <a:latin typeface="Arial"/>
                <a:ea typeface="Arial"/>
                <a:cs typeface="Arial"/>
              </a:rPr>
              <a:t>Tái hiện input synthetic; assert trạng thái ticket, giá trị requestKind và tính duy nhất mã rule.</a:t>
            </a:r>
          </a:p>
        </p:txBody>
      </p:sp>
      <p:sp>
        <p:nvSpPr>
          <p:cNvPr id="34" name="measure-separator">
            <a:extLst xmlns:a="http://schemas.openxmlformats.org/drawingml/2006/main">
              <a:ext uri="{FF2B5EF4-FFF2-40B4-BE49-F238E27FC236}">
                <a16:creationId xmlns:a16="http://schemas.microsoft.com/office/drawing/2014/main" id="{54598F68-BE6C-49FE-B721-8119CFB4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5777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easure-result">
            <a:extLst xmlns:a="http://schemas.openxmlformats.org/drawingml/2006/main">
              <a:ext uri="{FF2B5EF4-FFF2-40B4-BE49-F238E27FC236}">
                <a16:creationId xmlns:a16="http://schemas.microsoft.com/office/drawing/2014/main" id="{5DD0D41E-4542-4E4D-AD80-98C08ACB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57775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18 unit tests  +  1 E2E  ·  PASS</a:t>
            </a:r>
          </a:p>
        </p:txBody>
      </p:sp>
      <p:sp>
        <p:nvSpPr>
          <p:cNvPr id="36" name="measure-result-note">
            <a:extLst xmlns:a="http://schemas.openxmlformats.org/drawingml/2006/main">
              <a:ext uri="{FF2B5EF4-FFF2-40B4-BE49-F238E27FC236}">
                <a16:creationId xmlns:a16="http://schemas.microsoft.com/office/drawing/2014/main" id="{874E80D1-D939-49E7-8380-C6BD68F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29250"/>
            <a:ext cx="3752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646C"/>
                </a:solidFill>
                <a:latin typeface="Arial"/>
                <a:ea typeface="Arial"/>
                <a:cs typeface="Arial"/>
              </a:rPr>
              <a:t>Theo log sửa; kiểm thử phần mềm, không phải participant retest.</a:t>
            </a:r>
          </a:p>
        </p:txBody>
      </p:sp>
      <p:sp>
        <p:nvSpPr>
          <p:cNvPr id="37" name="measure-limit">
            <a:extLst xmlns:a="http://schemas.openxmlformats.org/drawingml/2006/main">
              <a:ext uri="{FF2B5EF4-FFF2-40B4-BE49-F238E27FC236}">
                <a16:creationId xmlns:a16="http://schemas.microsoft.com/office/drawing/2014/main" id="{F4CF5289-F9C1-4A07-A75D-88D12F15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Chưa có người dùng retest bản sửa; chưa đo thời gian xử lý, tỷ lệ hoàn tất hoặc gánh nặng phát sinh.</a:t>
            </a:r>
          </a:p>
        </p:txBody>
      </p:sp>
    </p:spTree>
    <p:extLst>
      <p:ext uri="{BB962C8B-B14F-4D97-AF65-F5344CB8AC3E}">
        <p14:creationId xmlns:p14="http://schemas.microsoft.com/office/powerpoint/2010/main" val="1672751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accent-4">
            <a:extLst xmlns:a="http://schemas.openxmlformats.org/drawingml/2006/main">
              <a:ext uri="{FF2B5EF4-FFF2-40B4-BE49-F238E27FC236}">
                <a16:creationId xmlns:a16="http://schemas.microsoft.com/office/drawing/2014/main" id="{89CA66CB-7EFA-483F-91CD-A173757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2C38E46F-69EE-411D-832C-0BC60135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65444A9-902E-4508-87AC-B5C0AE3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Kiến trúc hệ thống và ranh giới dữ liệu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2E9AB9B-10FE-4E41-9EC5-1E66181C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Ứng dụng có luồng quyết định và audit trong code; tác nghiệp hạ tầng vẫn là mô phỏng.</a:t>
            </a:r>
          </a:p>
        </p:txBody>
      </p:sp>
      <p:sp>
        <p:nvSpPr>
          <p:cNvPr id="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63A5E8F-42F5-4510-9700-C8E02759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B2ECC66D-D44B-4756-BCC7-A1797239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main @ e5bae44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2D10182D-219B-4420-9E1B-8C679A6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  <p:sp>
        <p:nvSpPr>
          <p:cNvPr id="8" name="architecture-box-0">
            <a:extLst xmlns:a="http://schemas.openxmlformats.org/drawingml/2006/main">
              <a:ext uri="{FF2B5EF4-FFF2-40B4-BE49-F238E27FC236}">
                <a16:creationId xmlns:a16="http://schemas.microsoft.com/office/drawing/2014/main" id="{2CF698C4-E950-432E-9F74-5C6F0CA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9" name="architecture-mark-0">
            <a:extLst xmlns:a="http://schemas.openxmlformats.org/drawingml/2006/main">
              <a:ext uri="{FF2B5EF4-FFF2-40B4-BE49-F238E27FC236}">
                <a16:creationId xmlns:a16="http://schemas.microsoft.com/office/drawing/2014/main" id="{54B3109C-9F72-4C3F-9E98-151876DB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9A62B8E8-3C5E-4E1E-B493-DCB6E74F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NGƯỜI GỬI</a:t>
            </a:r>
          </a:p>
        </p:txBody>
      </p:sp>
      <p:sp>
        <p:nvSpPr>
          <p:cNvPr id="11" name="architecture-copy-0">
            <a:extLst xmlns:a="http://schemas.openxmlformats.org/drawingml/2006/main">
              <a:ext uri="{FF2B5EF4-FFF2-40B4-BE49-F238E27FC236}">
                <a16:creationId xmlns:a16="http://schemas.microsoft.com/office/drawing/2014/main" id="{E7F989CB-A633-47D8-93E9-F5BC6A9E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Nội dung tự do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danh mục</a:t>
            </a:r>
          </a:p>
        </p:txBody>
      </p:sp>
      <p:sp>
        <p:nvSpPr>
          <p:cNvPr id="12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244AB914-B52C-47FF-B784-AD7B807E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architecture-box-1">
            <a:extLst xmlns:a="http://schemas.openxmlformats.org/drawingml/2006/main">
              <a:ext uri="{FF2B5EF4-FFF2-40B4-BE49-F238E27FC236}">
                <a16:creationId xmlns:a16="http://schemas.microsoft.com/office/drawing/2014/main" id="{8ADD6B05-55AF-4CEB-ABDB-044C3CD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4" name="architecture-mark-1">
            <a:extLst xmlns:a="http://schemas.openxmlformats.org/drawingml/2006/main">
              <a:ext uri="{FF2B5EF4-FFF2-40B4-BE49-F238E27FC236}">
                <a16:creationId xmlns:a16="http://schemas.microsoft.com/office/drawing/2014/main" id="{A16E4E1A-A7AD-4406-A1DE-4F80475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0F71ED6C-AA26-4844-932D-64B2E54C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WEB + API</a:t>
            </a:r>
          </a:p>
        </p:txBody>
      </p:sp>
      <p:sp>
        <p:nvSpPr>
          <p:cNvPr id="16" name="architecture-copy-1">
            <a:extLst xmlns:a="http://schemas.openxmlformats.org/drawingml/2006/main">
              <a:ext uri="{FF2B5EF4-FFF2-40B4-BE49-F238E27FC236}">
                <a16:creationId xmlns:a16="http://schemas.microsoft.com/office/drawing/2014/main" id="{0C17FE48-802A-44C5-A23C-41E7BDBD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Next.js · React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1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65A61D66-7653-4FAF-B5D1-85967E0D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architecture-box-2">
            <a:extLst xmlns:a="http://schemas.openxmlformats.org/drawingml/2006/main">
              <a:ext uri="{FF2B5EF4-FFF2-40B4-BE49-F238E27FC236}">
                <a16:creationId xmlns:a16="http://schemas.microsoft.com/office/drawing/2014/main" id="{E3A7395E-5D5B-4E30-86DF-AB941C1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19" name="architecture-mark-2">
            <a:extLst xmlns:a="http://schemas.openxmlformats.org/drawingml/2006/main">
              <a:ext uri="{FF2B5EF4-FFF2-40B4-BE49-F238E27FC236}">
                <a16:creationId xmlns:a16="http://schemas.microsoft.com/office/drawing/2014/main" id="{B0610D44-7B74-448E-A343-E8F43677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B2AF4A99-69D5-40C5-8F1D-1D1FBFB3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MODEL ADAPTER</a:t>
            </a:r>
          </a:p>
        </p:txBody>
      </p:sp>
      <p:sp>
        <p:nvSpPr>
          <p:cNvPr id="21" name="architecture-copy-2">
            <a:extLst xmlns:a="http://schemas.openxmlformats.org/drawingml/2006/main">
              <a:ext uri="{FF2B5EF4-FFF2-40B4-BE49-F238E27FC236}">
                <a16:creationId xmlns:a16="http://schemas.microsoft.com/office/drawing/2014/main" id="{FDA3F5FC-4FE4-4856-87F7-C1F468B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Intent · facts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BD4EF2ED-541C-40C7-8F40-E62CD7E4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architecture-box-3">
            <a:extLst xmlns:a="http://schemas.openxmlformats.org/drawingml/2006/main">
              <a:ext uri="{FF2B5EF4-FFF2-40B4-BE49-F238E27FC236}">
                <a16:creationId xmlns:a16="http://schemas.microsoft.com/office/drawing/2014/main" id="{0AA1E0D6-9740-4C0B-9B73-2942AA63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4" name="architecture-mark-3">
            <a:extLst xmlns:a="http://schemas.openxmlformats.org/drawingml/2006/main">
              <a:ext uri="{FF2B5EF4-FFF2-40B4-BE49-F238E27FC236}">
                <a16:creationId xmlns:a16="http://schemas.microsoft.com/office/drawing/2014/main" id="{48A2D7DB-F4F2-456C-B136-17B46F67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C47CEE23-33A7-4F21-91DF-12E994F2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POLICY ENGINE</a:t>
            </a:r>
          </a:p>
        </p:txBody>
      </p:sp>
      <p:sp>
        <p:nvSpPr>
          <p:cNvPr id="26" name="architecture-copy-3">
            <a:extLst xmlns:a="http://schemas.openxmlformats.org/drawingml/2006/main">
              <a:ext uri="{FF2B5EF4-FFF2-40B4-BE49-F238E27FC236}">
                <a16:creationId xmlns:a16="http://schemas.microsoft.com/office/drawing/2014/main" id="{F7BEE2AE-4243-492C-B8D4-B93E619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Rule tất định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v5.13</a:t>
            </a:r>
          </a:p>
        </p:txBody>
      </p:sp>
      <p:sp>
        <p:nvSpPr>
          <p:cNvPr id="27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4848CF68-8BA1-4655-A410-A275E003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54"/>
          </a:bodyPr>
          <a:lstStyle xmlns:a="http://schemas.openxmlformats.org/drawingml/2006/main">
            <a:def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05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5A2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architecture-box-4">
            <a:extLst xmlns:a="http://schemas.openxmlformats.org/drawingml/2006/main">
              <a:ext uri="{FF2B5EF4-FFF2-40B4-BE49-F238E27FC236}">
                <a16:creationId xmlns:a16="http://schemas.microsoft.com/office/drawing/2014/main" id="{85E7058F-EE15-4402-A514-A4B585C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71675"/>
            <a:ext cx="1790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5E8"/>
            </a:solidFill>
            <a:prstDash val="solid"/>
          </a:ln>
        </p:spPr>
      </p:sp>
      <p:sp>
        <p:nvSpPr>
          <p:cNvPr id="29" name="architecture-mark-4">
            <a:extLst xmlns:a="http://schemas.openxmlformats.org/drawingml/2006/main">
              <a:ext uri="{FF2B5EF4-FFF2-40B4-BE49-F238E27FC236}">
                <a16:creationId xmlns:a16="http://schemas.microsoft.com/office/drawing/2014/main" id="{5B3C95B7-9F49-44B5-8DC2-2D87A39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716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chitecture-label-4">
            <a:extLst xmlns:a="http://schemas.openxmlformats.org/drawingml/2006/main">
              <a:ext uri="{FF2B5EF4-FFF2-40B4-BE49-F238E27FC236}">
                <a16:creationId xmlns:a16="http://schemas.microsoft.com/office/drawing/2014/main" id="{1004D28B-A3D1-46E2-A415-FA748772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526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31" name="architecture-copy-4">
            <a:extLst xmlns:a="http://schemas.openxmlformats.org/drawingml/2006/main">
              <a:ext uri="{FF2B5EF4-FFF2-40B4-BE49-F238E27FC236}">
                <a16:creationId xmlns:a16="http://schemas.microsoft.com/office/drawing/2014/main" id="{7960DB6F-EA9F-4654-AF28-58977B34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574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Hướng dẫn · hỏi</a:t>
            </a:r>
          </a:p>
          <a:p xmlns:a="http://schemas.openxmlformats.org/drawingml/2006/main">
            <a:pPr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hoặc reviewer</a:t>
            </a:r>
          </a:p>
        </p:txBody>
      </p:sp>
      <p:sp>
        <p:nvSpPr>
          <p:cNvPr id="32" name="architecture-audit-line">
            <a:extLst xmlns:a="http://schemas.openxmlformats.org/drawingml/2006/main">
              <a:ext uri="{FF2B5EF4-FFF2-40B4-BE49-F238E27FC236}">
                <a16:creationId xmlns:a16="http://schemas.microsoft.com/office/drawing/2014/main" id="{32F565B6-3213-4509-AC60-A53D8CF1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rchitecture-audit">
            <a:extLst xmlns:a="http://schemas.openxmlformats.org/drawingml/2006/main">
              <a:ext uri="{FF2B5EF4-FFF2-40B4-BE49-F238E27FC236}">
                <a16:creationId xmlns:a16="http://schemas.microsoft.com/office/drawing/2014/main" id="{950C304A-4DB0-436A-B5FE-19CCB781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AUDIT: actor  ·  timestamp  ·  matched rule  ·  evidence  ·  lý do  ·  trạng thái</a:t>
            </a:r>
          </a:p>
        </p:txBody>
      </p:sp>
      <p:sp>
        <p:nvSpPr>
          <p:cNvPr id="34" name="real-data-head">
            <a:extLst xmlns:a="http://schemas.openxmlformats.org/drawingml/2006/main">
              <a:ext uri="{FF2B5EF4-FFF2-40B4-BE49-F238E27FC236}">
                <a16:creationId xmlns:a16="http://schemas.microsoft.com/office/drawing/2014/main" id="{55F87EB7-4263-4657-9D59-7EBC03EF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510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1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141"/>
                </a:solidFill>
                <a:latin typeface="Arial"/>
                <a:ea typeface="Arial"/>
                <a:cs typeface="Arial"/>
              </a:rPr>
              <a:t>THẬT / ĐÃ CÓ TRONG PHẠM VI DỰ ÁN</a:t>
            </a:r>
          </a:p>
        </p:txBody>
      </p:sp>
      <p:sp>
        <p:nvSpPr>
          <p:cNvPr id="35" name="real-rule">
            <a:extLst xmlns:a="http://schemas.openxmlformats.org/drawingml/2006/main">
              <a:ext uri="{FF2B5EF4-FFF2-40B4-BE49-F238E27FC236}">
                <a16:creationId xmlns:a16="http://schemas.microsoft.com/office/drawing/2014/main" id="{CDCB71D5-B454-4FF3-B289-6A5E397C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al-data-body">
            <a:extLst xmlns:a="http://schemas.openxmlformats.org/drawingml/2006/main">
              <a:ext uri="{FF2B5EF4-FFF2-40B4-BE49-F238E27FC236}">
                <a16:creationId xmlns:a16="http://schemas.microsoft.com/office/drawing/2014/main" id="{8DB5C7B5-081E-494C-85B7-3B21E3FD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10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UI/API, policy tất định có version, audit và tìm kiếm tri thức BM25 có nguồn.</a:t>
            </a:r>
          </a:p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3 phản hồi tester được ghi ngày 13.10.2026; không có ticket production trong hồ sơ.</a:t>
            </a:r>
          </a:p>
        </p:txBody>
      </p:sp>
      <p:sp>
        <p:nvSpPr>
          <p:cNvPr id="37" name="sim-data-head">
            <a:extLst xmlns:a="http://schemas.openxmlformats.org/drawingml/2006/main">
              <a:ext uri="{FF2B5EF4-FFF2-40B4-BE49-F238E27FC236}">
                <a16:creationId xmlns:a16="http://schemas.microsoft.com/office/drawing/2014/main" id="{F8EEF534-9A1B-45BE-A878-0F9DF05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6675"/>
            <a:ext cx="510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GIẢ LẬP / CHƯA ĐƯỢC XÁC MINH</a:t>
            </a:r>
          </a:p>
        </p:txBody>
      </p:sp>
      <p:sp>
        <p:nvSpPr>
          <p:cNvPr id="38" name="sim-rule">
            <a:extLst xmlns:a="http://schemas.openxmlformats.org/drawingml/2006/main">
              <a:ext uri="{FF2B5EF4-FFF2-40B4-BE49-F238E27FC236}">
                <a16:creationId xmlns:a16="http://schemas.microsoft.com/office/drawing/2014/main" id="{85DCBD10-78FF-4935-BCDE-24B2F17A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81475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8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im-data-body">
            <a:extLst xmlns:a="http://schemas.openxmlformats.org/drawingml/2006/main">
              <a:ext uri="{FF2B5EF4-FFF2-40B4-BE49-F238E27FC236}">
                <a16:creationId xmlns:a16="http://schemas.microsoft.com/office/drawing/2014/main" id="{E692D15F-DD81-49A0-A818-C89AE1D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510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Ticket và policy demo là synthetic; mock model/memory được dùng trong CI/local.</a:t>
            </a:r>
          </a:p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IAM/Cloud/DB không được thực thi; reviewer public không phải production auth.</a:t>
            </a:r>
          </a:p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• OpenAI có thể cấu hình; chất lượng live chưa được đánh giá độc lập.</a:t>
            </a:r>
          </a:p>
        </p:txBody>
      </p:sp>
      <p:sp>
        <p:nvSpPr>
          <p:cNvPr id="40" name="demo-link">
            <a:extLst xmlns:a="http://schemas.openxmlformats.org/drawingml/2006/main">
              <a:ext uri="{FF2B5EF4-FFF2-40B4-BE49-F238E27FC236}">
                <a16:creationId xmlns:a16="http://schemas.microsoft.com/office/drawing/2014/main" id="{01BC2960-C279-4ABD-812E-C0545193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Demo: https://vng-support.vercel.app</a:t>
            </a:r>
          </a:p>
        </p:txBody>
      </p:sp>
      <p:sp>
        <p:nvSpPr>
          <p:cNvPr id="41" name="demo-revision">
            <a:extLst xmlns:a="http://schemas.openxmlformats.org/drawingml/2006/main">
              <a:ext uri="{FF2B5EF4-FFF2-40B4-BE49-F238E27FC236}">
                <a16:creationId xmlns:a16="http://schemas.microsoft.com/office/drawing/2014/main" id="{C7FE501D-44A9-4523-B7C4-2D07D087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19775"/>
            <a:ext cx="526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0646C"/>
                </a:solidFill>
                <a:latin typeface="Arial"/>
                <a:ea typeface="Arial"/>
                <a:cs typeface="Arial"/>
              </a:rPr>
              <a:t>Mã nguồn: main @ e5bae44  ·  SHA deployment: cần đối chiếu</a:t>
            </a:r>
          </a:p>
        </p:txBody>
      </p:sp>
    </p:spTree>
    <p:extLst>
      <p:ext uri="{BB962C8B-B14F-4D97-AF65-F5344CB8AC3E}">
        <p14:creationId xmlns:p14="http://schemas.microsoft.com/office/powerpoint/2010/main" val="1466766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ccent-5">
            <a:extLst xmlns:a="http://schemas.openxmlformats.org/drawingml/2006/main">
              <a:ext uri="{FF2B5EF4-FFF2-40B4-BE49-F238E27FC236}">
                <a16:creationId xmlns:a16="http://schemas.microsoft.com/office/drawing/2014/main" id="{5E659DC0-1F27-423E-BF97-09C9B477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E7EFA77D-3B47-488D-8B57-8DDA715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MLAI HACKATHON 2026  ·  ORGANIZATIONAI  ·  ĐỀ A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0D0492F1-FFCE-44C6-9ACC-7A111BCB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Giới hạn, rủi ro và bước kiểm chứng tiếp theo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68B1ADC7-6AA0-4EF1-84AF-FBEA7978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646C"/>
                </a:solidFill>
                <a:latin typeface="Arial"/>
                <a:ea typeface="Arial"/>
                <a:cs typeface="Arial"/>
              </a:rPr>
              <a:t>Bản demo chứng minh luồng phần mềm; chưa chứng minh hiệu quả vận hành hay mức sẵn sàng production.</a:t>
            </a:r>
          </a:p>
        </p:txBody>
      </p:sp>
      <p:sp>
        <p:nvSpPr>
          <p:cNvPr id="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C76A50B-6E2E-4E43-A321-43630A5F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26269CB1-BA63-4CE8-A285-2D93921A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646C"/>
                </a:solidFill>
                <a:latin typeface="Arial"/>
                <a:ea typeface="Arial"/>
                <a:cs typeface="Arial"/>
              </a:rPr>
              <a:t>VNG Support  ·  Bản thảo 14.10.2026  ·  main @ e5bae44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202A297D-DE4C-4763-8B48-E2DE2926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57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  <p:sp>
        <p:nvSpPr>
          <p:cNvPr id="8" name="limits-callout">
            <a:extLst xmlns:a="http://schemas.openxmlformats.org/drawingml/2006/main">
              <a:ext uri="{FF2B5EF4-FFF2-40B4-BE49-F238E27FC236}">
                <a16:creationId xmlns:a16="http://schemas.microsoft.com/office/drawing/2014/main" id="{BD263A38-D9A0-46D5-AEF6-5A0941F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imits-callout-mark">
            <a:extLst xmlns:a="http://schemas.openxmlformats.org/drawingml/2006/main">
              <a:ext uri="{FF2B5EF4-FFF2-40B4-BE49-F238E27FC236}">
                <a16:creationId xmlns:a16="http://schemas.microsoft.com/office/drawing/2014/main" id="{60976A41-0AE2-4CCC-8459-A2CBCF1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mits-callout-text">
            <a:extLst xmlns:a="http://schemas.openxmlformats.org/drawingml/2006/main">
              <a:ext uri="{FF2B5EF4-FFF2-40B4-BE49-F238E27FC236}">
                <a16:creationId xmlns:a16="http://schemas.microsoft.com/office/drawing/2014/main" id="{F699BCAC-4230-4FFB-9D9D-0B7836A8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1042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Chưa có cơ sở tuyên bố tiết kiệm thời gian, độ chính xác trên held-out data hoặc an toàn production.</a:t>
            </a:r>
          </a:p>
        </p:txBody>
      </p:sp>
      <p:sp>
        <p:nvSpPr>
          <p:cNvPr id="11" name="risk-col-head">
            <a:extLst xmlns:a="http://schemas.openxmlformats.org/drawingml/2006/main">
              <a:ext uri="{FF2B5EF4-FFF2-40B4-BE49-F238E27FC236}">
                <a16:creationId xmlns:a16="http://schemas.microsoft.com/office/drawing/2014/main" id="{E2FDEED5-8E5B-4A00-8617-B4711160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GIỚI HẠN HIỆN TẠI</a:t>
            </a:r>
          </a:p>
        </p:txBody>
      </p:sp>
      <p:sp>
        <p:nvSpPr>
          <p:cNvPr id="12" name="next-col-head">
            <a:extLst xmlns:a="http://schemas.openxmlformats.org/drawingml/2006/main">
              <a:ext uri="{FF2B5EF4-FFF2-40B4-BE49-F238E27FC236}">
                <a16:creationId xmlns:a16="http://schemas.microsoft.com/office/drawing/2014/main" id="{C78C27C6-8BA6-411E-9993-16E5A49C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20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VIỆC CẦN LÀM</a:t>
            </a:r>
          </a:p>
        </p:txBody>
      </p:sp>
      <p:sp>
        <p:nvSpPr>
          <p:cNvPr id="13" name="risk-head-rule">
            <a:extLst xmlns:a="http://schemas.openxmlformats.org/drawingml/2006/main">
              <a:ext uri="{FF2B5EF4-FFF2-40B4-BE49-F238E27FC236}">
                <a16:creationId xmlns:a16="http://schemas.microsoft.com/office/drawing/2014/main" id="{50107AC1-1F00-48FE-A0C2-8A4E294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sk-tag-0">
            <a:extLst xmlns:a="http://schemas.openxmlformats.org/drawingml/2006/main">
              <a:ext uri="{FF2B5EF4-FFF2-40B4-BE49-F238E27FC236}">
                <a16:creationId xmlns:a16="http://schemas.microsoft.com/office/drawing/2014/main" id="{F7D4955D-5E47-41F7-AB45-FE1F1EB0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15" name="risk-text-0">
            <a:extLst xmlns:a="http://schemas.openxmlformats.org/drawingml/2006/main">
              <a:ext uri="{FF2B5EF4-FFF2-40B4-BE49-F238E27FC236}">
                <a16:creationId xmlns:a16="http://schemas.microsoft.com/office/drawing/2014/main" id="{F8EA2BBD-8E0F-43EA-8260-F1D9549F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194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3 phản hồi; chưa có participant retest hay số đo trước/sau về thời gian và hoàn tất.</a:t>
            </a:r>
          </a:p>
        </p:txBody>
      </p:sp>
      <p:sp>
        <p:nvSpPr>
          <p:cNvPr id="16" name="next-text-0">
            <a:extLst xmlns:a="http://schemas.openxmlformats.org/drawingml/2006/main">
              <a:ext uri="{FF2B5EF4-FFF2-40B4-BE49-F238E27FC236}">
                <a16:creationId xmlns:a16="http://schemas.microsoft.com/office/drawing/2014/main" id="{A9B2E387-2998-4907-9E1D-3D8B23E3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Retest cả 3 người trên deployment đã xác nhận SHA; ghi task success, trợ giúp, bỏ cuộc và thời gian.</a:t>
            </a:r>
          </a:p>
        </p:txBody>
      </p:sp>
      <p:sp>
        <p:nvSpPr>
          <p:cNvPr id="17" name="risk-row-rule-0">
            <a:extLst xmlns:a="http://schemas.openxmlformats.org/drawingml/2006/main">
              <a:ext uri="{FF2B5EF4-FFF2-40B4-BE49-F238E27FC236}">
                <a16:creationId xmlns:a16="http://schemas.microsoft.com/office/drawing/2014/main" id="{C7DD4A76-965A-4CCC-B73B-A626AB75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isk-tag-1">
            <a:extLst xmlns:a="http://schemas.openxmlformats.org/drawingml/2006/main">
              <a:ext uri="{FF2B5EF4-FFF2-40B4-BE49-F238E27FC236}">
                <a16:creationId xmlns:a16="http://schemas.microsoft.com/office/drawing/2014/main" id="{9D81B666-ED9C-4F33-93E2-C08BF31C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ĐỘ CHÍNH XÁC</a:t>
            </a:r>
          </a:p>
        </p:txBody>
      </p:sp>
      <p:sp>
        <p:nvSpPr>
          <p:cNvPr id="19" name="risk-text-1">
            <a:extLst xmlns:a="http://schemas.openxmlformats.org/drawingml/2006/main">
              <a:ext uri="{FF2B5EF4-FFF2-40B4-BE49-F238E27FC236}">
                <a16:creationId xmlns:a16="http://schemas.microsoft.com/office/drawing/2014/main" id="{D8C79317-D0C0-4D97-A74E-FB5BEA9E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Chưa có tập held-out được adjudicate; nhãn development cũ còn bất đồng.</a:t>
            </a:r>
          </a:p>
        </p:txBody>
      </p:sp>
      <p:sp>
        <p:nvSpPr>
          <p:cNvPr id="20" name="next-text-1">
            <a:extLst xmlns:a="http://schemas.openxmlformats.org/drawingml/2006/main">
              <a:ext uri="{FF2B5EF4-FFF2-40B4-BE49-F238E27FC236}">
                <a16:creationId xmlns:a16="http://schemas.microsoft.com/office/drawing/2014/main" id="{FBCB8397-564C-4DAF-A965-2B35A1FF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Phân xử nhãn độc lập; báo missed escalation và unnecessary escalation kèm tử số/mẫu số.</a:t>
            </a:r>
          </a:p>
        </p:txBody>
      </p:sp>
      <p:sp>
        <p:nvSpPr>
          <p:cNvPr id="21" name="risk-row-rule-1">
            <a:extLst xmlns:a="http://schemas.openxmlformats.org/drawingml/2006/main">
              <a:ext uri="{FF2B5EF4-FFF2-40B4-BE49-F238E27FC236}">
                <a16:creationId xmlns:a16="http://schemas.microsoft.com/office/drawing/2014/main" id="{A938BFB3-2ABB-4306-9FED-97BD068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isk-tag-2">
            <a:extLst xmlns:a="http://schemas.openxmlformats.org/drawingml/2006/main">
              <a:ext uri="{FF2B5EF4-FFF2-40B4-BE49-F238E27FC236}">
                <a16:creationId xmlns:a16="http://schemas.microsoft.com/office/drawing/2014/main" id="{FC646BE2-A027-41FD-9D43-06A3BAD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QUYỀN &amp; RIÊNG TƯ</a:t>
            </a:r>
          </a:p>
        </p:txBody>
      </p:sp>
      <p:sp>
        <p:nvSpPr>
          <p:cNvPr id="23" name="risk-text-2">
            <a:extLst xmlns:a="http://schemas.openxmlformats.org/drawingml/2006/main">
              <a:ext uri="{FF2B5EF4-FFF2-40B4-BE49-F238E27FC236}">
                <a16:creationId xmlns:a16="http://schemas.microsoft.com/office/drawing/2014/main" id="{B9F9BA4F-F547-4E5F-8E1D-98A4F76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053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Reviewer/ID demo không phải xác thực production; redaction chưa che tên/địa chỉ tự do.</a:t>
            </a:r>
          </a:p>
        </p:txBody>
      </p:sp>
      <p:sp>
        <p:nvSpPr>
          <p:cNvPr id="24" name="next-text-2">
            <a:extLst xmlns:a="http://schemas.openxmlformats.org/drawingml/2006/main">
              <a:ext uri="{FF2B5EF4-FFF2-40B4-BE49-F238E27FC236}">
                <a16:creationId xmlns:a16="http://schemas.microsoft.com/office/drawing/2014/main" id="{1989209C-1CBA-4FCA-919B-C793172E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Giữ dữ liệu synthetic; chốt SSO/RBAC, quyền truy cập, retention và ranh giới dữ liệu.</a:t>
            </a:r>
          </a:p>
        </p:txBody>
      </p:sp>
      <p:sp>
        <p:nvSpPr>
          <p:cNvPr id="25" name="risk-row-rule-2">
            <a:extLst xmlns:a="http://schemas.openxmlformats.org/drawingml/2006/main">
              <a:ext uri="{FF2B5EF4-FFF2-40B4-BE49-F238E27FC236}">
                <a16:creationId xmlns:a16="http://schemas.microsoft.com/office/drawing/2014/main" id="{DAC37072-53BE-4744-99D9-D0365714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isk-tag-3">
            <a:extLst xmlns:a="http://schemas.openxmlformats.org/drawingml/2006/main">
              <a:ext uri="{FF2B5EF4-FFF2-40B4-BE49-F238E27FC236}">
                <a16:creationId xmlns:a16="http://schemas.microsoft.com/office/drawing/2014/main" id="{EC290421-E1C8-469A-BC9F-EB19157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67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7360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360D"/>
                </a:solidFill>
                <a:latin typeface="Arial"/>
                <a:ea typeface="Arial"/>
                <a:cs typeface="Arial"/>
              </a:rPr>
              <a:t>TÁC NGHIỆP</a:t>
            </a:r>
          </a:p>
        </p:txBody>
      </p:sp>
      <p:sp>
        <p:nvSpPr>
          <p:cNvPr id="27" name="risk-text-3">
            <a:extLst xmlns:a="http://schemas.openxmlformats.org/drawingml/2006/main">
              <a:ext uri="{FF2B5EF4-FFF2-40B4-BE49-F238E27FC236}">
                <a16:creationId xmlns:a16="http://schemas.microsoft.com/office/drawing/2014/main" id="{E0D4EC04-5D2F-4D09-9502-9815E07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4825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IAM/Cloud/DB chỉ mô phỏng; Mongo restart và SHA live chưa được xác minh.</a:t>
            </a:r>
          </a:p>
        </p:txBody>
      </p:sp>
      <p:sp>
        <p:nvSpPr>
          <p:cNvPr id="28" name="next-text-3">
            <a:extLst xmlns:a="http://schemas.openxmlformats.org/drawingml/2006/main">
              <a:ext uri="{FF2B5EF4-FFF2-40B4-BE49-F238E27FC236}">
                <a16:creationId xmlns:a16="http://schemas.microsoft.com/office/drawing/2014/main" id="{961E72CB-E860-4263-B3C1-89DF8B41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02124"/>
                </a:solidFill>
                <a:latin typeface="Arial"/>
                <a:ea typeface="Arial"/>
                <a:cs typeface="Arial"/>
              </a:rPr>
              <a:t>Đối chiếu sourceRevision; kiểm thử persistence và connector trong môi trường thử nghiệm được phép.</a:t>
            </a:r>
          </a:p>
        </p:txBody>
      </p:sp>
      <p:sp>
        <p:nvSpPr>
          <p:cNvPr id="29" name="risk-bottom-rule">
            <a:extLst xmlns:a="http://schemas.openxmlformats.org/drawingml/2006/main">
              <a:ext uri="{FF2B5EF4-FFF2-40B4-BE49-F238E27FC236}">
                <a16:creationId xmlns:a16="http://schemas.microsoft.com/office/drawing/2014/main" id="{CB62293A-B1C8-4B64-B3EE-754A03E9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isk-disclosure">
            <a:extLst xmlns:a="http://schemas.openxmlformats.org/drawingml/2006/main">
              <a:ext uri="{FF2B5EF4-FFF2-40B4-BE49-F238E27FC236}">
                <a16:creationId xmlns:a16="http://schemas.microsoft.com/office/drawing/2014/main" id="{027C7BD9-6C91-44A4-8B3A-62A29C1F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064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46C"/>
                </a:solidFill>
                <a:latin typeface="Arial"/>
                <a:ea typeface="Arial"/>
                <a:cs typeface="Arial"/>
              </a:rPr>
              <a:t>Policy trong demo là đề xuất synthetic, không phải quy định chính thức hoặc xác nhận của VNG.</a:t>
            </a:r>
          </a:p>
        </p:txBody>
      </p:sp>
    </p:spTree>
    <p:extLst>
      <p:ext uri="{BB962C8B-B14F-4D97-AF65-F5344CB8AC3E}">
        <p14:creationId xmlns:p14="http://schemas.microsoft.com/office/powerpoint/2010/main" val="995146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2026-10-13T21:23:43.6200000Z</dcterms:created>
  <dcterms:modified xsi:type="dcterms:W3CDTF">2026-10-13T21:23:43.6200000Z</dcterms:modified>
</coreProperties>
</file>